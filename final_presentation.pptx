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76" r:id="rId2"/>
    <p:sldId id="281" r:id="rId3"/>
    <p:sldId id="257" r:id="rId4"/>
    <p:sldId id="256" r:id="rId5"/>
    <p:sldId id="258" r:id="rId6"/>
    <p:sldId id="259" r:id="rId7"/>
    <p:sldId id="260" r:id="rId8"/>
    <p:sldId id="261" r:id="rId9"/>
    <p:sldId id="264" r:id="rId10"/>
    <p:sldId id="265" r:id="rId11"/>
    <p:sldId id="267" r:id="rId12"/>
    <p:sldId id="282" r:id="rId13"/>
    <p:sldId id="270" r:id="rId14"/>
    <p:sldId id="271" r:id="rId15"/>
    <p:sldId id="272" r:id="rId16"/>
    <p:sldId id="275" r:id="rId17"/>
    <p:sldId id="278" r:id="rId18"/>
    <p:sldId id="279" r:id="rId19"/>
    <p:sldId id="280" r:id="rId2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napVertSplitter="1" vertBarState="minimized">
    <p:restoredLeft sz="15176" autoAdjust="0"/>
    <p:restoredTop sz="94660"/>
  </p:normalViewPr>
  <p:slideViewPr>
    <p:cSldViewPr snapToGrid="0">
      <p:cViewPr>
        <p:scale>
          <a:sx n="75" d="100"/>
          <a:sy n="75" d="100"/>
        </p:scale>
        <p:origin x="27" y="33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9BEA8BE-BAB1-4496-9589-320BA365F656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A9F26B8-6D6D-4E0F-9425-97F06458E8D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9646250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7A9F26B8-6D6D-4E0F-9425-97F06458E8D7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9349078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7B40AB-A617-344D-753D-F90CB32FB97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28F24D0-90CB-A807-6F02-C590921DE70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FA40895-F32C-009B-2BE9-ABAB23D3E7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8DA5E0A0-8B92-4A63-650B-7841EF549F4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DE7C70-AE73-39C4-6415-3B0B2D397C7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40631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2CFF64-7286-2913-4D84-5F1F2C51E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CD5E751-1824-40BD-720A-3F65F8825AE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DCFC9E-DC25-6EF2-8C90-66729660658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2A5749-624B-AD37-41CB-103AB8F0110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63AE8B9-E38A-B516-2A17-A82AB061B9F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0944610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CD3C945-1A59-2807-BC40-EC880CCD6C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65C2775-F15E-DFBD-DD7A-F8E9D73DE75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2F12B0DE-52AC-FCE4-C548-7655BC160B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245AC398-BCC8-E713-E241-B5FECE7BB4D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A572840-7DA7-8CE0-9720-EEDC941DB8F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627729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54D0FE8-8FBA-9850-2297-446728F9DA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011641F-1842-E023-3209-CFC163EAD8B9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6D94E630-71A8-7191-26A5-C721E30D3EA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ACE8112-E8CA-2FC1-ABE1-72C2A53917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BD27E509-006F-D4F8-0B24-B7656FA0659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A520D24-5759-037C-5FC6-51CB0C6E5D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0493786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E69FC67-5666-3E64-D19E-A5FC5D86B2E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7BAE1CE6-F234-6BE3-95C1-0FA5753CA1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B61A435-344A-BF72-0070-F1B6EBF5264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5BEE2143-50AB-BC3B-7545-E25D615D3634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472845C6-FA69-B2D4-EFB4-76E6DABC5E1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6595902D-565E-8D86-6B58-0A63FC9C054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2216F3A-1AA8-FF65-9D10-E64B8E5B73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CB5D1C8F-E16C-9F55-C132-2095AA55BCD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9811845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E391D0-68D2-F235-E41A-727B589F12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99C138E2-383F-9A82-0358-4FCE13CFF5A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22BC511-4C16-7780-2354-9A7A26B31BF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D9B638FD-31F7-DADC-9D69-726E46AD55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0959922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82FA3B7-6D74-AEC3-0FCB-EF7C4CC421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7B9949BD-AB2D-B8B8-0528-E99D6A55C3E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607B4A79-0D86-FC3F-601C-3E4C919DAF4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7137787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4A55F6E-E8B6-318D-2850-A938C269539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149A7933-C1D7-78B1-E358-68B0C01E7AB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B7D68295-F16F-6D79-2A21-8365DF3C038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694AB661-04CA-C07E-9645-86F8122854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33E2AA6-CC28-7337-01F8-143C051DEEA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C247954-26B8-245A-0AF2-37543F3A44F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148803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2FB342-069F-7A8F-224F-6A24F63A5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C2D5738-2B66-1151-A25C-7DAC4A38BB2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A6661AE-AF64-FECD-D87E-9A0E436A87D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DDFEEF4-457A-EAA5-B8DA-7D0B5665F48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FA8F897-9455-6AEA-63A8-36986BEB5E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01C3133-4564-0F9A-0D17-6E35CF72482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7257497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707BC00-513C-04C1-D929-736C1F516E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0268C75C-2A19-B923-D578-2E5E3C4ADB00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514936C-C0EC-6B27-7383-F5E3F83E1AC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6B64B491-BD46-2A32-8C7F-9D8828ECBB6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881B04C-6E29-B63D-746E-6560578E3F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7078583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64CED217-7BE5-B486-AFDB-E83E74E8EB30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DE84DFFB-CD31-6CD9-0BD0-3A9EE885467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503C8E-5C43-A253-3EE9-9AADED38E2E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3531942-572B-468B-8583-3B9684FFECA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8CD7382-47E3-A204-D2FB-86B965877B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A7E199-D2BD-1AB8-16AB-D1BD87DAE6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8373804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78116173-5D9B-0F46-2AA1-6A8F02A20A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200D288-7F28-C62D-2DE2-58D9AAF1A27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4E48B71-41EE-D3AC-8C71-7AD2AE53AD8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3531942-572B-468B-8583-3B9684FFECA3}" type="datetimeFigureOut">
              <a:rPr lang="en-US" smtClean="0"/>
              <a:t>2/19/2026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763FE5B-7A50-5E10-DEFD-7FD8F3DC51AE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0B20F7F-61A5-050A-D52A-108EAF987A6D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4F8337D-547B-4899-A744-019D1889BD8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3259035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" name="Rectangle 22">
            <a:extLst>
              <a:ext uri="{FF2B5EF4-FFF2-40B4-BE49-F238E27FC236}">
                <a16:creationId xmlns:a16="http://schemas.microsoft.com/office/drawing/2014/main" id="{8F9CBE3F-79A8-4F8F-88D9-DAD03D0D281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gradFill flip="none" rotWithShape="1">
            <a:gsLst>
              <a:gs pos="0">
                <a:schemeClr val="accent1"/>
              </a:gs>
              <a:gs pos="100000">
                <a:schemeClr val="accent2"/>
              </a:gs>
            </a:gsLst>
            <a:lin ang="2700000" scaled="1"/>
            <a:tileRect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srgbClr val="FFFFFF"/>
              </a:solidFill>
            </a:endParaRPr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AA7A0C7-A824-44E6-6F87-15720A94690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2030" y="1209220"/>
            <a:ext cx="9147940" cy="2337238"/>
          </a:xfrm>
        </p:spPr>
        <p:txBody>
          <a:bodyPr anchor="b">
            <a:normAutofit/>
          </a:bodyPr>
          <a:lstStyle/>
          <a:p>
            <a:r>
              <a:rPr lang="en-US" sz="5600" dirty="0">
                <a:solidFill>
                  <a:srgbClr val="FFFFFF"/>
                </a:solidFill>
              </a:rPr>
              <a:t> Final Project - Introduction to Deep Learning</a:t>
            </a:r>
          </a:p>
        </p:txBody>
      </p:sp>
      <p:sp>
        <p:nvSpPr>
          <p:cNvPr id="5" name="Subtitle 4">
            <a:extLst>
              <a:ext uri="{FF2B5EF4-FFF2-40B4-BE49-F238E27FC236}">
                <a16:creationId xmlns:a16="http://schemas.microsoft.com/office/drawing/2014/main" id="{9A85F1B2-BA8E-3FF5-1F18-AA0F3944D53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2030" y="3605577"/>
            <a:ext cx="9147940" cy="1324303"/>
          </a:xfrm>
        </p:spPr>
        <p:txBody>
          <a:bodyPr anchor="t">
            <a:normAutofit/>
          </a:bodyPr>
          <a:lstStyle/>
          <a:p>
            <a:r>
              <a:rPr lang="en-US" sz="2000" dirty="0">
                <a:solidFill>
                  <a:srgbClr val="FFFFFF"/>
                </a:solidFill>
              </a:rPr>
              <a:t>Noa </a:t>
            </a:r>
            <a:r>
              <a:rPr lang="en-US" sz="2000" dirty="0" err="1">
                <a:solidFill>
                  <a:srgbClr val="FFFFFF"/>
                </a:solidFill>
              </a:rPr>
              <a:t>Halali</a:t>
            </a:r>
            <a:r>
              <a:rPr lang="en-US" sz="2000" dirty="0">
                <a:solidFill>
                  <a:srgbClr val="FFFFFF"/>
                </a:solidFill>
              </a:rPr>
              <a:t> &amp; Shiraz </a:t>
            </a:r>
            <a:r>
              <a:rPr lang="en-US" sz="2000" dirty="0" err="1">
                <a:solidFill>
                  <a:srgbClr val="FFFFFF"/>
                </a:solidFill>
              </a:rPr>
              <a:t>Khalepari</a:t>
            </a:r>
            <a:endParaRPr lang="en-US" sz="2000" dirty="0">
              <a:solidFill>
                <a:srgbClr val="FFFFFF"/>
              </a:solidFill>
            </a:endParaRPr>
          </a:p>
        </p:txBody>
      </p:sp>
      <p:sp>
        <p:nvSpPr>
          <p:cNvPr id="25" name="Graphic 22">
            <a:extLst>
              <a:ext uri="{FF2B5EF4-FFF2-40B4-BE49-F238E27FC236}">
                <a16:creationId xmlns:a16="http://schemas.microsoft.com/office/drawing/2014/main" id="{508BEF50-7B1E-49A4-BC19-5F4F1D755E6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261869" y="2383077"/>
            <a:ext cx="151536" cy="151536"/>
          </a:xfrm>
          <a:custGeom>
            <a:avLst/>
            <a:gdLst>
              <a:gd name="connsiteX0" fmla="*/ 141251 w 151536"/>
              <a:gd name="connsiteY0" fmla="*/ 65483 h 151536"/>
              <a:gd name="connsiteX1" fmla="*/ 86053 w 151536"/>
              <a:gd name="connsiteY1" fmla="*/ 65483 h 151536"/>
              <a:gd name="connsiteX2" fmla="*/ 86053 w 151536"/>
              <a:gd name="connsiteY2" fmla="*/ 10285 h 151536"/>
              <a:gd name="connsiteX3" fmla="*/ 75768 w 151536"/>
              <a:gd name="connsiteY3" fmla="*/ 0 h 151536"/>
              <a:gd name="connsiteX4" fmla="*/ 65483 w 151536"/>
              <a:gd name="connsiteY4" fmla="*/ 10285 h 151536"/>
              <a:gd name="connsiteX5" fmla="*/ 65483 w 151536"/>
              <a:gd name="connsiteY5" fmla="*/ 65483 h 151536"/>
              <a:gd name="connsiteX6" fmla="*/ 10285 w 151536"/>
              <a:gd name="connsiteY6" fmla="*/ 65483 h 151536"/>
              <a:gd name="connsiteX7" fmla="*/ 0 w 151536"/>
              <a:gd name="connsiteY7" fmla="*/ 75768 h 151536"/>
              <a:gd name="connsiteX8" fmla="*/ 10285 w 151536"/>
              <a:gd name="connsiteY8" fmla="*/ 86053 h 151536"/>
              <a:gd name="connsiteX9" fmla="*/ 65483 w 151536"/>
              <a:gd name="connsiteY9" fmla="*/ 86053 h 151536"/>
              <a:gd name="connsiteX10" fmla="*/ 65483 w 151536"/>
              <a:gd name="connsiteY10" fmla="*/ 141251 h 151536"/>
              <a:gd name="connsiteX11" fmla="*/ 75768 w 151536"/>
              <a:gd name="connsiteY11" fmla="*/ 151536 h 151536"/>
              <a:gd name="connsiteX12" fmla="*/ 86053 w 151536"/>
              <a:gd name="connsiteY12" fmla="*/ 141251 h 151536"/>
              <a:gd name="connsiteX13" fmla="*/ 86053 w 151536"/>
              <a:gd name="connsiteY13" fmla="*/ 86053 h 151536"/>
              <a:gd name="connsiteX14" fmla="*/ 141251 w 151536"/>
              <a:gd name="connsiteY14" fmla="*/ 86053 h 151536"/>
              <a:gd name="connsiteX15" fmla="*/ 151536 w 151536"/>
              <a:gd name="connsiteY15" fmla="*/ 75768 h 151536"/>
              <a:gd name="connsiteX16" fmla="*/ 141251 w 151536"/>
              <a:gd name="connsiteY16" fmla="*/ 65483 h 151536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51536" h="151536">
                <a:moveTo>
                  <a:pt x="141251" y="65483"/>
                </a:moveTo>
                <a:lnTo>
                  <a:pt x="86053" y="65483"/>
                </a:lnTo>
                <a:lnTo>
                  <a:pt x="86053" y="10285"/>
                </a:lnTo>
                <a:cubicBezTo>
                  <a:pt x="86053" y="4605"/>
                  <a:pt x="81448" y="0"/>
                  <a:pt x="75768" y="0"/>
                </a:cubicBezTo>
                <a:cubicBezTo>
                  <a:pt x="70088" y="0"/>
                  <a:pt x="65483" y="4605"/>
                  <a:pt x="65483" y="10285"/>
                </a:cubicBezTo>
                <a:lnTo>
                  <a:pt x="65483" y="65483"/>
                </a:lnTo>
                <a:lnTo>
                  <a:pt x="10285" y="65483"/>
                </a:lnTo>
                <a:cubicBezTo>
                  <a:pt x="4605" y="65483"/>
                  <a:pt x="0" y="70088"/>
                  <a:pt x="0" y="75768"/>
                </a:cubicBezTo>
                <a:cubicBezTo>
                  <a:pt x="0" y="81448"/>
                  <a:pt x="4605" y="86053"/>
                  <a:pt x="10285" y="86053"/>
                </a:cubicBezTo>
                <a:lnTo>
                  <a:pt x="65483" y="86053"/>
                </a:lnTo>
                <a:lnTo>
                  <a:pt x="65483" y="141251"/>
                </a:lnTo>
                <a:cubicBezTo>
                  <a:pt x="65483" y="146931"/>
                  <a:pt x="70088" y="151536"/>
                  <a:pt x="75768" y="151536"/>
                </a:cubicBezTo>
                <a:cubicBezTo>
                  <a:pt x="81448" y="151536"/>
                  <a:pt x="86053" y="146931"/>
                  <a:pt x="86053" y="141251"/>
                </a:cubicBezTo>
                <a:lnTo>
                  <a:pt x="86053" y="86053"/>
                </a:lnTo>
                <a:lnTo>
                  <a:pt x="141251" y="86053"/>
                </a:lnTo>
                <a:cubicBezTo>
                  <a:pt x="146931" y="86053"/>
                  <a:pt x="151536" y="81448"/>
                  <a:pt x="151536" y="75768"/>
                </a:cubicBezTo>
                <a:cubicBezTo>
                  <a:pt x="151536" y="70088"/>
                  <a:pt x="146931" y="65483"/>
                  <a:pt x="141251" y="65483"/>
                </a:cubicBezTo>
                <a:close/>
              </a:path>
            </a:pathLst>
          </a:custGeom>
          <a:solidFill>
            <a:srgbClr val="FFFFFF"/>
          </a:solidFill>
          <a:ln w="64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7" name="Graphic 13">
            <a:extLst>
              <a:ext uri="{FF2B5EF4-FFF2-40B4-BE49-F238E27FC236}">
                <a16:creationId xmlns:a16="http://schemas.microsoft.com/office/drawing/2014/main" id="{C5CB530E-515E-412C-9DF1-5F8FFBD6F383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24364" y="2265467"/>
            <a:ext cx="139039" cy="139039"/>
          </a:xfrm>
          <a:custGeom>
            <a:avLst/>
            <a:gdLst>
              <a:gd name="connsiteX0" fmla="*/ 129602 w 139039"/>
              <a:gd name="connsiteY0" fmla="*/ 60082 h 139039"/>
              <a:gd name="connsiteX1" fmla="*/ 78957 w 139039"/>
              <a:gd name="connsiteY1" fmla="*/ 60082 h 139039"/>
              <a:gd name="connsiteX2" fmla="*/ 78957 w 139039"/>
              <a:gd name="connsiteY2" fmla="*/ 9437 h 139039"/>
              <a:gd name="connsiteX3" fmla="*/ 69520 w 139039"/>
              <a:gd name="connsiteY3" fmla="*/ 0 h 139039"/>
              <a:gd name="connsiteX4" fmla="*/ 60082 w 139039"/>
              <a:gd name="connsiteY4" fmla="*/ 9437 h 139039"/>
              <a:gd name="connsiteX5" fmla="*/ 60082 w 139039"/>
              <a:gd name="connsiteY5" fmla="*/ 60082 h 139039"/>
              <a:gd name="connsiteX6" fmla="*/ 9437 w 139039"/>
              <a:gd name="connsiteY6" fmla="*/ 60082 h 139039"/>
              <a:gd name="connsiteX7" fmla="*/ 0 w 139039"/>
              <a:gd name="connsiteY7" fmla="*/ 69520 h 139039"/>
              <a:gd name="connsiteX8" fmla="*/ 9437 w 139039"/>
              <a:gd name="connsiteY8" fmla="*/ 78957 h 139039"/>
              <a:gd name="connsiteX9" fmla="*/ 60082 w 139039"/>
              <a:gd name="connsiteY9" fmla="*/ 78957 h 139039"/>
              <a:gd name="connsiteX10" fmla="*/ 60082 w 139039"/>
              <a:gd name="connsiteY10" fmla="*/ 129602 h 139039"/>
              <a:gd name="connsiteX11" fmla="*/ 69520 w 139039"/>
              <a:gd name="connsiteY11" fmla="*/ 139039 h 139039"/>
              <a:gd name="connsiteX12" fmla="*/ 78957 w 139039"/>
              <a:gd name="connsiteY12" fmla="*/ 129602 h 139039"/>
              <a:gd name="connsiteX13" fmla="*/ 78957 w 139039"/>
              <a:gd name="connsiteY13" fmla="*/ 78957 h 139039"/>
              <a:gd name="connsiteX14" fmla="*/ 129602 w 139039"/>
              <a:gd name="connsiteY14" fmla="*/ 78957 h 139039"/>
              <a:gd name="connsiteX15" fmla="*/ 139039 w 139039"/>
              <a:gd name="connsiteY15" fmla="*/ 69520 h 139039"/>
              <a:gd name="connsiteX16" fmla="*/ 129602 w 139039"/>
              <a:gd name="connsiteY16" fmla="*/ 60082 h 1390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</a:cxnLst>
            <a:rect l="l" t="t" r="r" b="b"/>
            <a:pathLst>
              <a:path w="139039" h="139039">
                <a:moveTo>
                  <a:pt x="129602" y="60082"/>
                </a:moveTo>
                <a:lnTo>
                  <a:pt x="78957" y="60082"/>
                </a:lnTo>
                <a:lnTo>
                  <a:pt x="78957" y="9437"/>
                </a:lnTo>
                <a:cubicBezTo>
                  <a:pt x="78957" y="4225"/>
                  <a:pt x="74731" y="0"/>
                  <a:pt x="69520" y="0"/>
                </a:cubicBezTo>
                <a:cubicBezTo>
                  <a:pt x="64308" y="0"/>
                  <a:pt x="60082" y="4225"/>
                  <a:pt x="60082" y="9437"/>
                </a:cubicBezTo>
                <a:lnTo>
                  <a:pt x="60082" y="60082"/>
                </a:lnTo>
                <a:lnTo>
                  <a:pt x="9437" y="60082"/>
                </a:lnTo>
                <a:cubicBezTo>
                  <a:pt x="4225" y="60082"/>
                  <a:pt x="0" y="64308"/>
                  <a:pt x="0" y="69520"/>
                </a:cubicBezTo>
                <a:cubicBezTo>
                  <a:pt x="0" y="74731"/>
                  <a:pt x="4225" y="78957"/>
                  <a:pt x="9437" y="78957"/>
                </a:cubicBezTo>
                <a:lnTo>
                  <a:pt x="60082" y="78957"/>
                </a:lnTo>
                <a:lnTo>
                  <a:pt x="60082" y="129602"/>
                </a:lnTo>
                <a:cubicBezTo>
                  <a:pt x="60082" y="134814"/>
                  <a:pt x="64308" y="139039"/>
                  <a:pt x="69520" y="139039"/>
                </a:cubicBezTo>
                <a:cubicBezTo>
                  <a:pt x="74731" y="139039"/>
                  <a:pt x="78957" y="134814"/>
                  <a:pt x="78957" y="129602"/>
                </a:cubicBezTo>
                <a:lnTo>
                  <a:pt x="78957" y="78957"/>
                </a:lnTo>
                <a:lnTo>
                  <a:pt x="129602" y="78957"/>
                </a:lnTo>
                <a:cubicBezTo>
                  <a:pt x="134814" y="78957"/>
                  <a:pt x="139039" y="74731"/>
                  <a:pt x="139039" y="69520"/>
                </a:cubicBezTo>
                <a:cubicBezTo>
                  <a:pt x="139039" y="64308"/>
                  <a:pt x="134814" y="60082"/>
                  <a:pt x="129602" y="60082"/>
                </a:cubicBezTo>
                <a:close/>
              </a:path>
            </a:pathLst>
          </a:custGeom>
          <a:solidFill>
            <a:srgbClr val="FFFFFF"/>
          </a:solidFill>
          <a:ln w="603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29" name="Graphic 15">
            <a:extLst>
              <a:ext uri="{FF2B5EF4-FFF2-40B4-BE49-F238E27FC236}">
                <a16:creationId xmlns:a16="http://schemas.microsoft.com/office/drawing/2014/main" id="{AEA7509D-F04F-40CB-A0B3-EEF16499CC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1024834" y="2537201"/>
            <a:ext cx="127714" cy="127714"/>
          </a:xfrm>
          <a:custGeom>
            <a:avLst/>
            <a:gdLst>
              <a:gd name="connsiteX0" fmla="*/ 63857 w 127714"/>
              <a:gd name="connsiteY0" fmla="*/ 18874 h 127714"/>
              <a:gd name="connsiteX1" fmla="*/ 108840 w 127714"/>
              <a:gd name="connsiteY1" fmla="*/ 63857 h 127714"/>
              <a:gd name="connsiteX2" fmla="*/ 63857 w 127714"/>
              <a:gd name="connsiteY2" fmla="*/ 108840 h 127714"/>
              <a:gd name="connsiteX3" fmla="*/ 18874 w 127714"/>
              <a:gd name="connsiteY3" fmla="*/ 63857 h 127714"/>
              <a:gd name="connsiteX4" fmla="*/ 63857 w 127714"/>
              <a:gd name="connsiteY4" fmla="*/ 18874 h 127714"/>
              <a:gd name="connsiteX5" fmla="*/ 63857 w 127714"/>
              <a:gd name="connsiteY5" fmla="*/ 0 h 127714"/>
              <a:gd name="connsiteX6" fmla="*/ 0 w 127714"/>
              <a:gd name="connsiteY6" fmla="*/ 63857 h 127714"/>
              <a:gd name="connsiteX7" fmla="*/ 63857 w 127714"/>
              <a:gd name="connsiteY7" fmla="*/ 127714 h 127714"/>
              <a:gd name="connsiteX8" fmla="*/ 127714 w 127714"/>
              <a:gd name="connsiteY8" fmla="*/ 63857 h 127714"/>
              <a:gd name="connsiteX9" fmla="*/ 63857 w 127714"/>
              <a:gd name="connsiteY9" fmla="*/ 0 h 12771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27714" h="127714">
                <a:moveTo>
                  <a:pt x="63857" y="18874"/>
                </a:moveTo>
                <a:cubicBezTo>
                  <a:pt x="88700" y="18874"/>
                  <a:pt x="108840" y="39014"/>
                  <a:pt x="108840" y="63857"/>
                </a:cubicBezTo>
                <a:cubicBezTo>
                  <a:pt x="108840" y="88700"/>
                  <a:pt x="88700" y="108840"/>
                  <a:pt x="63857" y="108840"/>
                </a:cubicBezTo>
                <a:cubicBezTo>
                  <a:pt x="39014" y="108840"/>
                  <a:pt x="18874" y="88700"/>
                  <a:pt x="18874" y="63857"/>
                </a:cubicBezTo>
                <a:cubicBezTo>
                  <a:pt x="18898" y="39024"/>
                  <a:pt x="39024" y="18898"/>
                  <a:pt x="63857" y="18874"/>
                </a:cubicBezTo>
                <a:moveTo>
                  <a:pt x="63857" y="0"/>
                </a:moveTo>
                <a:cubicBezTo>
                  <a:pt x="28590" y="0"/>
                  <a:pt x="0" y="28590"/>
                  <a:pt x="0" y="63857"/>
                </a:cubicBezTo>
                <a:cubicBezTo>
                  <a:pt x="0" y="99124"/>
                  <a:pt x="28590" y="127714"/>
                  <a:pt x="63857" y="127714"/>
                </a:cubicBezTo>
                <a:cubicBezTo>
                  <a:pt x="99124" y="127714"/>
                  <a:pt x="127714" y="99124"/>
                  <a:pt x="127714" y="63857"/>
                </a:cubicBezTo>
                <a:cubicBezTo>
                  <a:pt x="127714" y="28590"/>
                  <a:pt x="99124" y="0"/>
                  <a:pt x="63857" y="0"/>
                </a:cubicBezTo>
                <a:close/>
              </a:path>
            </a:pathLst>
          </a:custGeom>
          <a:solidFill>
            <a:srgbClr val="FFFFFF"/>
          </a:solidFill>
          <a:ln w="610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1" name="Graphic 21">
            <a:extLst>
              <a:ext uri="{FF2B5EF4-FFF2-40B4-BE49-F238E27FC236}">
                <a16:creationId xmlns:a16="http://schemas.microsoft.com/office/drawing/2014/main" id="{C39ADB8F-D187-49D7-BDCF-C1B6DC72706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64053" y="2832967"/>
            <a:ext cx="95759" cy="95759"/>
          </a:xfrm>
          <a:custGeom>
            <a:avLst/>
            <a:gdLst>
              <a:gd name="connsiteX0" fmla="*/ 95759 w 95759"/>
              <a:gd name="connsiteY0" fmla="*/ 47880 h 95759"/>
              <a:gd name="connsiteX1" fmla="*/ 47880 w 95759"/>
              <a:gd name="connsiteY1" fmla="*/ 95759 h 95759"/>
              <a:gd name="connsiteX2" fmla="*/ 0 w 95759"/>
              <a:gd name="connsiteY2" fmla="*/ 47880 h 95759"/>
              <a:gd name="connsiteX3" fmla="*/ 47880 w 95759"/>
              <a:gd name="connsiteY3" fmla="*/ 0 h 95759"/>
              <a:gd name="connsiteX4" fmla="*/ 95759 w 95759"/>
              <a:gd name="connsiteY4" fmla="*/ 47880 h 9575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5759" h="95759">
                <a:moveTo>
                  <a:pt x="95759" y="47880"/>
                </a:moveTo>
                <a:cubicBezTo>
                  <a:pt x="95759" y="74323"/>
                  <a:pt x="74323" y="95759"/>
                  <a:pt x="47880" y="95759"/>
                </a:cubicBezTo>
                <a:cubicBezTo>
                  <a:pt x="21436" y="95759"/>
                  <a:pt x="0" y="74323"/>
                  <a:pt x="0" y="47880"/>
                </a:cubicBezTo>
                <a:cubicBezTo>
                  <a:pt x="0" y="21436"/>
                  <a:pt x="21436" y="0"/>
                  <a:pt x="47880" y="0"/>
                </a:cubicBezTo>
                <a:cubicBezTo>
                  <a:pt x="74323" y="0"/>
                  <a:pt x="95759" y="21436"/>
                  <a:pt x="95759" y="47880"/>
                </a:cubicBezTo>
                <a:close/>
              </a:path>
            </a:pathLst>
          </a:custGeom>
          <a:solidFill>
            <a:srgbClr val="FFFFFF"/>
          </a:solidFill>
          <a:ln w="469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3" name="Graphic 12">
            <a:extLst>
              <a:ext uri="{FF2B5EF4-FFF2-40B4-BE49-F238E27FC236}">
                <a16:creationId xmlns:a16="http://schemas.microsoft.com/office/drawing/2014/main" id="{712D4376-A578-4FF1-94FC-245E7A6A489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0772266" y="2803988"/>
            <a:ext cx="91138" cy="91138"/>
          </a:xfrm>
          <a:custGeom>
            <a:avLst/>
            <a:gdLst>
              <a:gd name="connsiteX0" fmla="*/ 91138 w 91138"/>
              <a:gd name="connsiteY0" fmla="*/ 45569 h 91138"/>
              <a:gd name="connsiteX1" fmla="*/ 45569 w 91138"/>
              <a:gd name="connsiteY1" fmla="*/ 91138 h 91138"/>
              <a:gd name="connsiteX2" fmla="*/ 0 w 91138"/>
              <a:gd name="connsiteY2" fmla="*/ 45569 h 91138"/>
              <a:gd name="connsiteX3" fmla="*/ 45569 w 91138"/>
              <a:gd name="connsiteY3" fmla="*/ 0 h 91138"/>
              <a:gd name="connsiteX4" fmla="*/ 91138 w 91138"/>
              <a:gd name="connsiteY4" fmla="*/ 45569 h 91138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</a:cxnLst>
            <a:rect l="l" t="t" r="r" b="b"/>
            <a:pathLst>
              <a:path w="91138" h="91138">
                <a:moveTo>
                  <a:pt x="91138" y="45569"/>
                </a:moveTo>
                <a:cubicBezTo>
                  <a:pt x="91138" y="70736"/>
                  <a:pt x="70736" y="91138"/>
                  <a:pt x="45569" y="91138"/>
                </a:cubicBezTo>
                <a:cubicBezTo>
                  <a:pt x="20402" y="91138"/>
                  <a:pt x="0" y="70736"/>
                  <a:pt x="0" y="45569"/>
                </a:cubicBezTo>
                <a:cubicBezTo>
                  <a:pt x="0" y="20402"/>
                  <a:pt x="20402" y="0"/>
                  <a:pt x="45569" y="0"/>
                </a:cubicBezTo>
                <a:cubicBezTo>
                  <a:pt x="70736" y="0"/>
                  <a:pt x="91138" y="20402"/>
                  <a:pt x="91138" y="45569"/>
                </a:cubicBezTo>
                <a:close/>
              </a:path>
            </a:pathLst>
          </a:custGeom>
          <a:solidFill>
            <a:srgbClr val="FFFFFF"/>
          </a:solidFill>
          <a:ln w="422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sp>
        <p:nvSpPr>
          <p:cNvPr id="35" name="Graphic 23">
            <a:extLst>
              <a:ext uri="{FF2B5EF4-FFF2-40B4-BE49-F238E27FC236}">
                <a16:creationId xmlns:a16="http://schemas.microsoft.com/office/drawing/2014/main" id="{3FBAD350-5664-4811-A208-657FB882D35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413405" y="3242499"/>
            <a:ext cx="108625" cy="108625"/>
          </a:xfrm>
          <a:custGeom>
            <a:avLst/>
            <a:gdLst>
              <a:gd name="connsiteX0" fmla="*/ 54313 w 108625"/>
              <a:gd name="connsiteY0" fmla="*/ 16053 h 108625"/>
              <a:gd name="connsiteX1" fmla="*/ 92572 w 108625"/>
              <a:gd name="connsiteY1" fmla="*/ 54313 h 108625"/>
              <a:gd name="connsiteX2" fmla="*/ 54313 w 108625"/>
              <a:gd name="connsiteY2" fmla="*/ 92572 h 108625"/>
              <a:gd name="connsiteX3" fmla="*/ 16053 w 108625"/>
              <a:gd name="connsiteY3" fmla="*/ 54313 h 108625"/>
              <a:gd name="connsiteX4" fmla="*/ 54313 w 108625"/>
              <a:gd name="connsiteY4" fmla="*/ 16053 h 108625"/>
              <a:gd name="connsiteX5" fmla="*/ 54313 w 108625"/>
              <a:gd name="connsiteY5" fmla="*/ 0 h 108625"/>
              <a:gd name="connsiteX6" fmla="*/ 0 w 108625"/>
              <a:gd name="connsiteY6" fmla="*/ 54313 h 108625"/>
              <a:gd name="connsiteX7" fmla="*/ 54313 w 108625"/>
              <a:gd name="connsiteY7" fmla="*/ 108625 h 108625"/>
              <a:gd name="connsiteX8" fmla="*/ 108625 w 108625"/>
              <a:gd name="connsiteY8" fmla="*/ 54313 h 108625"/>
              <a:gd name="connsiteX9" fmla="*/ 54313 w 108625"/>
              <a:gd name="connsiteY9" fmla="*/ 0 h 108625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</a:cxnLst>
            <a:rect l="l" t="t" r="r" b="b"/>
            <a:pathLst>
              <a:path w="108625" h="108625">
                <a:moveTo>
                  <a:pt x="54313" y="16053"/>
                </a:moveTo>
                <a:cubicBezTo>
                  <a:pt x="75442" y="16053"/>
                  <a:pt x="92572" y="33182"/>
                  <a:pt x="92572" y="54313"/>
                </a:cubicBezTo>
                <a:cubicBezTo>
                  <a:pt x="92572" y="75442"/>
                  <a:pt x="75442" y="92572"/>
                  <a:pt x="54313" y="92572"/>
                </a:cubicBezTo>
                <a:cubicBezTo>
                  <a:pt x="33182" y="92572"/>
                  <a:pt x="16053" y="75442"/>
                  <a:pt x="16053" y="54313"/>
                </a:cubicBezTo>
                <a:cubicBezTo>
                  <a:pt x="16074" y="33191"/>
                  <a:pt x="33191" y="16074"/>
                  <a:pt x="54313" y="16053"/>
                </a:cubicBezTo>
                <a:moveTo>
                  <a:pt x="54313" y="0"/>
                </a:moveTo>
                <a:cubicBezTo>
                  <a:pt x="24317" y="0"/>
                  <a:pt x="0" y="24317"/>
                  <a:pt x="0" y="54313"/>
                </a:cubicBezTo>
                <a:cubicBezTo>
                  <a:pt x="0" y="84309"/>
                  <a:pt x="24317" y="108625"/>
                  <a:pt x="54313" y="108625"/>
                </a:cubicBezTo>
                <a:cubicBezTo>
                  <a:pt x="84309" y="108625"/>
                  <a:pt x="108625" y="84309"/>
                  <a:pt x="108625" y="54313"/>
                </a:cubicBezTo>
                <a:cubicBezTo>
                  <a:pt x="108625" y="24317"/>
                  <a:pt x="84309" y="0"/>
                  <a:pt x="54313" y="0"/>
                </a:cubicBezTo>
                <a:close/>
              </a:path>
            </a:pathLst>
          </a:custGeom>
          <a:solidFill>
            <a:srgbClr val="FFFFFF"/>
          </a:solidFill>
          <a:ln w="516" cap="flat">
            <a:noFill/>
            <a:prstDash val="solid"/>
            <a:miter/>
          </a:ln>
        </p:spPr>
        <p:txBody>
          <a:bodyPr rtlCol="0" anchor="ctr"/>
          <a:lstStyle/>
          <a:p>
            <a:endParaRPr lang="en-US">
              <a:solidFill>
                <a:srgbClr val="FFFFFF"/>
              </a:solidFill>
            </a:endParaRPr>
          </a:p>
        </p:txBody>
      </p:sp>
      <p:cxnSp>
        <p:nvCxnSpPr>
          <p:cNvPr id="37" name="Straight Connector 36">
            <a:extLst>
              <a:ext uri="{FF2B5EF4-FFF2-40B4-BE49-F238E27FC236}">
                <a16:creationId xmlns:a16="http://schemas.microsoft.com/office/drawing/2014/main" id="{56020367-4FD5-4596-8E10-C5F095CD8DBF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0" y="5831729"/>
            <a:ext cx="12188952" cy="0"/>
          </a:xfrm>
          <a:prstGeom prst="line">
            <a:avLst/>
          </a:prstGeom>
          <a:ln w="25400" cap="sq">
            <a:solidFill>
              <a:srgbClr val="FFFFFF"/>
            </a:solidFill>
            <a:beve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9109944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כותרת 1">
            <a:extLst>
              <a:ext uri="{FF2B5EF4-FFF2-40B4-BE49-F238E27FC236}">
                <a16:creationId xmlns:a16="http://schemas.microsoft.com/office/drawing/2014/main" id="{080E28A9-605D-246B-FD16-7C463A6E4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Problem &amp; Dataset</a:t>
            </a:r>
            <a:endParaRPr lang="he-IL" dirty="0"/>
          </a:p>
        </p:txBody>
      </p:sp>
      <p:sp>
        <p:nvSpPr>
          <p:cNvPr id="3" name="מציין מיקום תוכן 2">
            <a:extLst>
              <a:ext uri="{FF2B5EF4-FFF2-40B4-BE49-F238E27FC236}">
                <a16:creationId xmlns:a16="http://schemas.microsoft.com/office/drawing/2014/main" id="{F470815B-6A85-F5AC-9F89-2C1D7D383C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US" b="1" dirty="0"/>
              <a:t>Task:</a:t>
            </a:r>
            <a:r>
              <a:rPr lang="en-US" dirty="0"/>
              <a:t> Image classification on a custom dataset (same as Exercise 1).</a:t>
            </a:r>
          </a:p>
          <a:p>
            <a:r>
              <a:rPr lang="en-US" b="1" dirty="0"/>
              <a:t>Dataset:</a:t>
            </a:r>
            <a:r>
              <a:rPr lang="en-US" dirty="0"/>
              <a:t> ~1,000 images, split into train/validation sets.</a:t>
            </a:r>
          </a:p>
          <a:p>
            <a:r>
              <a:rPr lang="en-US" b="1" dirty="0"/>
              <a:t>Preprocessing:</a:t>
            </a:r>
            <a:r>
              <a:rPr lang="en-US" dirty="0"/>
              <a:t> Resize to 224×224 and ImageNet normalization.</a:t>
            </a:r>
          </a:p>
          <a:p>
            <a:r>
              <a:rPr lang="en-US" b="1" dirty="0"/>
              <a:t>Main challenge:</a:t>
            </a:r>
            <a:r>
              <a:rPr lang="en-US" dirty="0"/>
              <a:t> Small dataset → high overfitting risk → need regularization and transfer learning.</a:t>
            </a:r>
          </a:p>
          <a:p>
            <a:endParaRPr lang="he-IL" dirty="0"/>
          </a:p>
        </p:txBody>
      </p:sp>
    </p:spTree>
    <p:extLst>
      <p:ext uri="{BB962C8B-B14F-4D97-AF65-F5344CB8AC3E}">
        <p14:creationId xmlns:p14="http://schemas.microsoft.com/office/powerpoint/2010/main" val="989213035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9E40E2-3ABA-1BB0-370F-0D7ECC6D6BB5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Part 1 — Training a CNN from Scratch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F570D1ED-8BE2-EBA5-A6E8-79387A35F761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>
            <a:normAutofit/>
          </a:bodyPr>
          <a:lstStyle/>
          <a:p>
            <a:r>
              <a:rPr lang="en-US" sz="4000" dirty="0"/>
              <a:t>Step 1 — Architecture &amp; Optimization</a:t>
            </a:r>
          </a:p>
        </p:txBody>
      </p:sp>
    </p:spTree>
    <p:extLst>
      <p:ext uri="{BB962C8B-B14F-4D97-AF65-F5344CB8AC3E}">
        <p14:creationId xmlns:p14="http://schemas.microsoft.com/office/powerpoint/2010/main" val="14761053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5" name="Rectangle 24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37ED512-BDD4-51D5-E58E-269EB62A3BC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3000" b="1"/>
              <a:t>Experiment 1 - SmallCNN + Adam</a:t>
            </a:r>
            <a:endParaRPr lang="en-US" sz="3000"/>
          </a:p>
        </p:txBody>
      </p:sp>
      <p:sp>
        <p:nvSpPr>
          <p:cNvPr id="26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E52DDA0-74EC-3832-15A0-FF546C24128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 fontScale="77500" lnSpcReduction="20000"/>
          </a:bodyPr>
          <a:lstStyle/>
          <a:p>
            <a:r>
              <a:rPr lang="en-US" altLang="en-US" sz="2000" b="1" dirty="0">
                <a:latin typeface="Arial" panose="020B0604020202020204" pitchFamily="34" charset="0"/>
              </a:rPr>
              <a:t>Result:</a:t>
            </a: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sz="2100" dirty="0"/>
              <a:t>Validation accuracy exceeds 80%, indicating successful learning</a:t>
            </a:r>
            <a:r>
              <a:rPr lang="en-US" dirty="0"/>
              <a:t>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2000" b="1" dirty="0">
                <a:latin typeface="Arial" panose="020B0604020202020204" pitchFamily="34" charset="0"/>
              </a:rPr>
              <a:t>Observation:</a:t>
            </a:r>
            <a:r>
              <a:rPr lang="en-US" altLang="en-US" sz="2000" dirty="0">
                <a:latin typeface="Arial" panose="020B0604020202020204" pitchFamily="34" charset="0"/>
              </a:rPr>
              <a:t> Performance stalled after Epoch 8, with a widening gap between training and validation metrics (Overfitting).</a:t>
            </a:r>
          </a:p>
          <a:p>
            <a:pPr mar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2000" b="1" dirty="0">
                <a:latin typeface="Arial" panose="020B0604020202020204" pitchFamily="34" charset="0"/>
              </a:rPr>
              <a:t>Conclusion:</a:t>
            </a:r>
            <a:r>
              <a:rPr lang="en-US" altLang="en-US" sz="2000" dirty="0">
                <a:latin typeface="Arial" panose="020B0604020202020204" pitchFamily="34" charset="0"/>
              </a:rPr>
              <a:t> </a:t>
            </a:r>
            <a:r>
              <a:rPr lang="en-US" sz="2300" dirty="0"/>
              <a:t>The </a:t>
            </a:r>
            <a:r>
              <a:rPr lang="en-US" sz="2300" dirty="0" err="1"/>
              <a:t>SmallCNN</a:t>
            </a:r>
            <a:r>
              <a:rPr lang="en-US" sz="2300" dirty="0"/>
              <a:t> provides a strong and stable baseline for this dataset, motivating a comparison with a deeper architecture to study the effect of increased model capacity.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EB8A5D4C-4D1B-3B1D-E468-0BAF32BCFF4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468880"/>
            <a:ext cx="10796123" cy="354014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6723474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41224F50-44B9-3223-89BC-45330D175BC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" name="Rectangle 19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3E5BA6A-51DF-A64D-A3B2-45ECC23FF3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3000" b="1"/>
              <a:t>Experiment 2 - DeepCNN + Adam</a:t>
            </a:r>
            <a:endParaRPr lang="en-US" sz="3000"/>
          </a:p>
        </p:txBody>
      </p:sp>
      <p:sp>
        <p:nvSpPr>
          <p:cNvPr id="22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31B46328-DC7D-EC94-3989-B84069402F7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550519" y="276225"/>
            <a:ext cx="7318393" cy="2649856"/>
          </a:xfrm>
        </p:spPr>
        <p:txBody>
          <a:bodyPr anchor="ctr">
            <a:no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Result:</a:t>
            </a: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Achieved </a:t>
            </a:r>
            <a:r>
              <a:rPr lang="en-US" alt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~87.5% Peak Validation Accuracy</a:t>
            </a: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slightly improving on the baseline.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Observation: </a:t>
            </a: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Training is significantly slower per epoch compared to </a:t>
            </a:r>
            <a:r>
              <a:rPr lang="en-US" alt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SmallCNN</a:t>
            </a: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reflecting the higher computational cost of the deeper architecture.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Peak validation accuracy is similar to that of </a:t>
            </a:r>
            <a:r>
              <a:rPr lang="en-US" altLang="en-US" sz="1400" dirty="0" err="1">
                <a:latin typeface="Arial" panose="020B0604020202020204" pitchFamily="34" charset="0"/>
                <a:cs typeface="Arial" panose="020B0604020202020204" pitchFamily="34" charset="0"/>
              </a:rPr>
              <a:t>SmallCNN</a:t>
            </a: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, but the training process is less stable, with notable drops in validation performance during early epochs.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Training accuracy consistently exceeds validation accuracy, suggesting increased susceptibility to overfitting.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altLang="en-US" sz="1400" b="1" dirty="0">
                <a:latin typeface="Arial" panose="020B0604020202020204" pitchFamily="34" charset="0"/>
                <a:cs typeface="Arial" panose="020B0604020202020204" pitchFamily="34" charset="0"/>
              </a:rPr>
              <a:t>Conclusion:</a:t>
            </a:r>
            <a:r>
              <a:rPr lang="en-US" altLang="en-US" sz="1400" dirty="0">
                <a:latin typeface="Arial" panose="020B0604020202020204" pitchFamily="34" charset="0"/>
                <a:cs typeface="Arial" panose="020B0604020202020204" pitchFamily="34" charset="0"/>
              </a:rPr>
              <a:t> Increasing model depth does not immediately improve validation performance on this dataset and introduces training instability, motivating further investigation into optimization strategies.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586307E2-50C4-50F7-250C-4000573253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697" y="2991204"/>
            <a:ext cx="10384605" cy="34781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5363183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3E56951-7001-C8C7-1487-72D0CFBEAB5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E6370F5E-1942-1AC2-5720-685E74899BF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nl-NL" sz="3000" b="1"/>
              <a:t>Experiment 3 - DeepCNN + SGD (momentum)</a:t>
            </a:r>
            <a:endParaRPr lang="nl-NL" sz="300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731AD89-B5AA-1A5B-7965-D0635877855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1000" b="1" dirty="0">
                <a:latin typeface="Arial" panose="020B0604020202020204" pitchFamily="34" charset="0"/>
              </a:rPr>
              <a:t>Result:</a:t>
            </a:r>
            <a:r>
              <a:rPr lang="en-US" altLang="en-US" sz="1000" dirty="0">
                <a:latin typeface="Arial" panose="020B0604020202020204" pitchFamily="34" charset="0"/>
              </a:rPr>
              <a:t> Reached </a:t>
            </a:r>
            <a:r>
              <a:rPr lang="en-US" altLang="en-US" sz="1000" b="1" dirty="0">
                <a:latin typeface="Arial" panose="020B0604020202020204" pitchFamily="34" charset="0"/>
              </a:rPr>
              <a:t>~79.7% </a:t>
            </a:r>
            <a:r>
              <a:rPr lang="en-US" altLang="en-US" sz="1000" b="1" dirty="0" err="1">
                <a:latin typeface="Arial" panose="020B0604020202020204" pitchFamily="34" charset="0"/>
              </a:rPr>
              <a:t>val</a:t>
            </a:r>
            <a:r>
              <a:rPr lang="en-US" altLang="en-US" sz="1000" b="1" dirty="0">
                <a:latin typeface="Arial" panose="020B0604020202020204" pitchFamily="34" charset="0"/>
              </a:rPr>
              <a:t> Accuracy</a:t>
            </a:r>
            <a:r>
              <a:rPr lang="en-US" altLang="en-US" sz="1000" dirty="0">
                <a:latin typeface="Arial" panose="020B0604020202020204" pitchFamily="34" charset="0"/>
              </a:rPr>
              <a:t>, but required the full 9 epochs to get there.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1000" b="1" dirty="0">
                <a:latin typeface="Arial" panose="020B0604020202020204" pitchFamily="34" charset="0"/>
              </a:rPr>
              <a:t>Observation:</a:t>
            </a:r>
            <a:r>
              <a:rPr lang="en-US" altLang="en-US" sz="1000" dirty="0">
                <a:latin typeface="Arial" panose="020B0604020202020204" pitchFamily="34" charset="0"/>
              </a:rPr>
              <a:t> Although high validation accuracy is occasionally reached, it is not maintained consistently.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1000" b="1" dirty="0">
                <a:latin typeface="Arial" panose="020B0604020202020204" pitchFamily="34" charset="0"/>
              </a:rPr>
              <a:t>Comparison:</a:t>
            </a:r>
            <a:r>
              <a:rPr lang="en-US" altLang="en-US" sz="1000" dirty="0">
                <a:latin typeface="Arial" panose="020B0604020202020204" pitchFamily="34" charset="0"/>
              </a:rPr>
              <a:t> Training converges significantly more slowly compared to Adam.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lang="en-US" altLang="en-US" sz="1000" b="1" dirty="0">
                <a:latin typeface="Arial" panose="020B0604020202020204" pitchFamily="34" charset="0"/>
              </a:rPr>
              <a:t>Conclusion:</a:t>
            </a:r>
            <a:r>
              <a:rPr lang="en-US" altLang="en-US" sz="1000" dirty="0">
                <a:latin typeface="Arial" panose="020B0604020202020204" pitchFamily="34" charset="0"/>
              </a:rPr>
              <a:t> </a:t>
            </a:r>
            <a:r>
              <a:rPr lang="en-US" altLang="en-US" sz="1000" b="1" dirty="0">
                <a:latin typeface="Arial" panose="020B0604020202020204" pitchFamily="34" charset="0"/>
              </a:rPr>
              <a:t>Adam</a:t>
            </a:r>
            <a:r>
              <a:rPr lang="en-US" altLang="en-US" sz="1000" dirty="0">
                <a:latin typeface="Arial" panose="020B0604020202020204" pitchFamily="34" charset="0"/>
              </a:rPr>
              <a:t> is the superior optimizer for this task, offering faster convergence and better immediate stability.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5748D527-448E-1DD9-CD4C-F5F35259880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5708" y="2514600"/>
            <a:ext cx="11093163" cy="376614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5573904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004D8BA4-899A-9E17-721B-3FD3DDF73EB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7" name="Rectangle 16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927746FF-B680-AF19-46E7-6A28102E19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2600" b="1"/>
              <a:t>Experiment 4 - Hyperparameter Tuning (Learning Rate)</a:t>
            </a:r>
            <a:endParaRPr lang="en-US" sz="2600"/>
          </a:p>
        </p:txBody>
      </p:sp>
      <p:sp>
        <p:nvSpPr>
          <p:cNvPr id="19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A5C81D6C-8CBE-A43D-B5D7-6C27D38D23E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19"/>
            <a:ext cx="6894576" cy="1711643"/>
          </a:xfrm>
        </p:spPr>
        <p:txBody>
          <a:bodyPr anchor="ctr">
            <a:normAutofit fontScale="6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Result: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Achieved ~85.9% Peak Accuracy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Observations: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en-US" altLang="en-US" sz="15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- Reducing the learning rate resulted in slower but more stable convergence. Training loss decreased smoothly across epochs, and training accuracy improved steadily.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en-US" altLang="en-US" sz="15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- Validation performance also improved gradually, with reduced fluctuations compared to the higher learning rate setting.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en-US" altLang="en-US" sz="15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- the final validation accuracy was lower than that achieved with the baseline learning rate, and more epochs were required to reach peak performance.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Takeaway: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en-US" altLang="en-US" sz="15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While a lower learning rate improved training stability, it also slowed convergence and limited the final validation performance.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en-US" altLang="en-US" sz="150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For this dataset and architecture, a learning rate of 1e-3 provided a better trade-off between convergence speed and validation accuracy and was therefore selected for subsequent experiments.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17B664E9-7F58-CBC4-EA46-B762153DC99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71422" y="2468880"/>
            <a:ext cx="11177449" cy="377049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4621856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625B7A-330E-043B-171F-78D36D22211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8" name="Rectangle 17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6618D4B8-145E-3BC4-02EA-541EAF429CA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2300" b="1" dirty="0"/>
              <a:t>Experiment 5 - Hyperparameter Tuning (Batch Size)</a:t>
            </a:r>
            <a:br>
              <a:rPr lang="en-US" sz="2300" dirty="0"/>
            </a:br>
            <a:endParaRPr lang="en-US" sz="2300" dirty="0"/>
          </a:p>
        </p:txBody>
      </p:sp>
      <p:sp>
        <p:nvSpPr>
          <p:cNvPr id="20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7346A3D7-683C-0409-C19C-A1C5E77971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 fontScale="92500" lnSpcReduction="20000"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Result: 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Achieved ~72.9% Peak Accuracy.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</a:t>
            </a:r>
            <a:r>
              <a:rPr lang="en-US" sz="1200" b="1" dirty="0"/>
              <a:t>Observation: </a:t>
            </a:r>
            <a:r>
              <a:rPr lang="en-US" sz="1200" dirty="0"/>
              <a:t>Training progressed more slowly in the early epochs, with lower training accuracy compared to the baseline setting. Validation performance improved gradually but remained noticeably lower overall.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sz="1200" b="1" dirty="0"/>
              <a:t>Takeaway</a:t>
            </a:r>
            <a:r>
              <a:rPr lang="en-US" sz="1200" dirty="0"/>
              <a:t>: 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sz="1200" dirty="0"/>
              <a:t>- Increasing the batch size to 64 reduced the overall validation performance and slowed convergence for this dataset.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None/>
            </a:pPr>
            <a:r>
              <a:rPr lang="en-US" sz="1200" dirty="0"/>
              <a:t>- For </a:t>
            </a:r>
            <a:r>
              <a:rPr lang="en-US" sz="1200" dirty="0" err="1"/>
              <a:t>DeepCNN</a:t>
            </a:r>
            <a:r>
              <a:rPr lang="en-US" sz="1200" dirty="0"/>
              <a:t> + Adam with this dataset size, batch size 32 appears to provide a better trade-off between convergence speed and validation accuracy.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62D433EE-5531-FE1F-76BF-2EFFDE139F3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1357" y="2231582"/>
            <a:ext cx="11329285" cy="391708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964626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795711A-DC93-6589-5D1C-B35B9652884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7C4DDD6-74A8-5E65-FCB1-5797B96BFB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523" y="1214658"/>
            <a:ext cx="3419856" cy="751302"/>
          </a:xfrm>
        </p:spPr>
        <p:txBody>
          <a:bodyPr anchor="ctr">
            <a:normAutofit/>
          </a:bodyPr>
          <a:lstStyle/>
          <a:p>
            <a:r>
              <a:rPr lang="en-US" sz="1800" dirty="0"/>
              <a:t>Experiment - </a:t>
            </a:r>
            <a:r>
              <a:rPr lang="en-US" sz="1800" dirty="0" err="1"/>
              <a:t>DeepCNN</a:t>
            </a:r>
            <a:r>
              <a:rPr lang="en-US" sz="1800" dirty="0"/>
              <a:t> + Adam + Batch Normalization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A1196DB-FEC3-C292-AF6A-5D57E4CEEBF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Result: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Achieved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~92.2% Peak Accuracy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, significantly beating the baseline.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The Problem: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Extreme Instability.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The loss curve is "jagged" and unpredictable (e.g., Val Loss jumps from 2.4 to 5.0).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Key Insight: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 Deep networks with Batch Norm learn fast but are prone to </a:t>
            </a:r>
            <a:r>
              <a:rPr kumimoji="0" lang="en-US" altLang="en-US" sz="1500" b="1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high variance</a:t>
            </a:r>
            <a:r>
              <a:rPr kumimoji="0" lang="en-US" altLang="en-US" sz="1500" b="0" i="0" u="none" strike="noStrike" cap="none" normalizeH="0" baseline="0" dirty="0">
                <a:ln>
                  <a:noFill/>
                </a:ln>
                <a:effectLst/>
                <a:latin typeface="Google Sans Text"/>
              </a:rPr>
              <a:t>. They need a "brake" (Regularization) to stop them from memorizing noise.</a:t>
            </a:r>
            <a:endParaRPr kumimoji="0" lang="en-US" altLang="en-US" sz="15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D4F911ED-7E5C-BC2B-CC4F-63AF3F0234B5}"/>
              </a:ext>
            </a:extLst>
          </p:cNvPr>
          <p:cNvSpPr txBox="1">
            <a:spLocks/>
          </p:cNvSpPr>
          <p:nvPr/>
        </p:nvSpPr>
        <p:spPr>
          <a:xfrm>
            <a:off x="708992" y="487016"/>
            <a:ext cx="3625263" cy="75130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/>
              <a:t>Step 2 — Add Batch Normalization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DD316746-4B60-8899-8B9A-06BB87BF4DD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1940" y="2526394"/>
            <a:ext cx="11168119" cy="377117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2720098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F4DF040-1D95-B96D-8D94-0EFEE7586A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1F4B3E89-D21B-49BE-879B-58E25DF84B8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63523" y="1345903"/>
            <a:ext cx="3419856" cy="524126"/>
          </a:xfrm>
        </p:spPr>
        <p:txBody>
          <a:bodyPr anchor="ctr">
            <a:normAutofit/>
          </a:bodyPr>
          <a:lstStyle/>
          <a:p>
            <a:r>
              <a:rPr lang="en-US" sz="2000" dirty="0"/>
              <a:t>Experiment R1: Dropout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692EB6E6-439B-5E5F-3E12-FA33D0E3339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Result: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Achieved 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~95.3% Peak Accuracy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, the winner of the "Training from Scratch" phase.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The Fix: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Randomly disabling neurons (Dropout) forced the network to learn redundant, robust features.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Observation: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Excellent generalization. The model performed almost as well on unseen data as it did on training data (Train 96% vs Val 95%).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The "Hiccup":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The spike at Epoch 7 shows that even with regularization, deep learning can be volatile.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E94FB0DF-99DE-082D-87DD-84A2F3588931}"/>
              </a:ext>
            </a:extLst>
          </p:cNvPr>
          <p:cNvSpPr txBox="1">
            <a:spLocks/>
          </p:cNvSpPr>
          <p:nvPr/>
        </p:nvSpPr>
        <p:spPr>
          <a:xfrm>
            <a:off x="727280" y="609365"/>
            <a:ext cx="3606975" cy="75130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/>
              <a:t>Step 3 — Add Regularization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98716A-A66C-035B-799F-52B13D9FA5E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6833" y="2247577"/>
            <a:ext cx="11698333" cy="40010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227121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9F84C41-C499-84BB-0950-05B2AD43C34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32AEEBC8-9D30-42EF-95F2-386C2653FB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74E42CEF-526E-5B32-B810-461CEBC158C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502920"/>
            <a:ext cx="3419856" cy="1463040"/>
          </a:xfrm>
        </p:spPr>
        <p:txBody>
          <a:bodyPr anchor="ctr">
            <a:normAutofit/>
          </a:bodyPr>
          <a:lstStyle/>
          <a:p>
            <a:r>
              <a:rPr lang="en-US" sz="2000" dirty="0"/>
              <a:t>Experiment R2: Weight Decay (L2 Regularization)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2E92FA66-67D7-4CB4-94D3-E643A9AD475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F66542C1-B15A-E31F-FBA5-407A37E637C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Result: </a:t>
            </a:r>
            <a:r>
              <a:rPr lang="en-US" sz="1000" dirty="0"/>
              <a:t>Achieved ~79.7% Peak Accuracy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The Comparison: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Worse than Dropout.</a:t>
            </a:r>
            <a:endParaRPr kumimoji="0" lang="en-US" altLang="en-US" sz="1000" b="0" i="0" u="none" strike="noStrike" cap="none" normalizeH="0" baseline="0" dirty="0">
              <a:ln>
                <a:noFill/>
              </a:ln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0" i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Dropout: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~95% Acc (Strong Generalization)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0" i="1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Weight Decay: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~80% Acc (Moderate Generalization)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Dynamics: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The model fought against the penalty early on (instability in Epoch 1-3) before settling.</a:t>
            </a:r>
          </a:p>
          <a:p>
            <a:pPr marL="0" lvl="0" indent="0" eaLnBrk="0" fontAlgn="base" hangingPunct="0">
              <a:spcBef>
                <a:spcPct val="0"/>
              </a:spcBef>
              <a:spcAft>
                <a:spcPts val="600"/>
              </a:spcAft>
              <a:buFontTx/>
              <a:buChar char="•"/>
            </a:pPr>
            <a:r>
              <a:rPr kumimoji="0" lang="en-US" altLang="en-US" sz="1000" b="1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Takeaway:</a:t>
            </a:r>
            <a:r>
              <a:rPr kumimoji="0" lang="en-US" altLang="en-US" sz="1000" b="0" i="0" u="none" strike="noStrike" cap="none" normalizeH="0" baseline="0" dirty="0">
                <a:ln>
                  <a:noFill/>
                </a:ln>
                <a:effectLst/>
                <a:latin typeface="Arial" panose="020B0604020202020204" pitchFamily="34" charset="0"/>
              </a:rPr>
              <a:t> For this small dataset, randomly dropping neurons (Dropout) is more effective than penalizing large weights (L2).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8A9F14A1-724C-E4DA-239C-B4B9D81A81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54947" y="2585683"/>
            <a:ext cx="10861199" cy="365259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500539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F557DD34-FDA3-D87C-1387-B247F92E889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F453C9C0-82A8-A74E-A470-2394840FECA4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C66E0678-A472-837D-C6CE-CD27988F53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88731" y="502920"/>
            <a:ext cx="3845523" cy="1463040"/>
          </a:xfrm>
        </p:spPr>
        <p:txBody>
          <a:bodyPr anchor="ctr">
            <a:normAutofit/>
          </a:bodyPr>
          <a:lstStyle/>
          <a:p>
            <a:r>
              <a:rPr lang="en-US" sz="2000"/>
              <a:t>Experiment R3: Data augmentation</a:t>
            </a:r>
            <a:endParaRPr lang="en-US" sz="2000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FBB1CB89-0755-E133-D445-24FC9F620AC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25A1658B-08F2-6356-2B8B-C1A31029899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rm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000" b="1">
                <a:latin typeface="Arial" panose="020B0604020202020204" pitchFamily="34" charset="0"/>
              </a:rPr>
              <a:t>The Idea:</a:t>
            </a:r>
            <a:r>
              <a:rPr lang="en-US" altLang="en-US" sz="1000">
                <a:latin typeface="Arial" panose="020B0604020202020204" pitchFamily="34" charset="0"/>
              </a:rPr>
              <a:t> We artificially expanded our small dataset by randomly rotating, flipping, and adjusting the brightness of images during training.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000" b="1">
                <a:latin typeface="Arial" panose="020B0604020202020204" pitchFamily="34" charset="0"/>
              </a:rPr>
              <a:t>The Result:</a:t>
            </a:r>
            <a:r>
              <a:rPr lang="en-US" altLang="en-US" sz="1000">
                <a:latin typeface="Arial" panose="020B0604020202020204" pitchFamily="34" charset="0"/>
              </a:rPr>
              <a:t> Training became "harder" (accuracy rose slower), but the final model was much more robust.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n-US" altLang="en-US" sz="1000" b="1">
                <a:latin typeface="Arial" panose="020B0604020202020204" pitchFamily="34" charset="0"/>
              </a:rPr>
              <a:t>Key Metric:</a:t>
            </a:r>
            <a:r>
              <a:rPr lang="en-US" altLang="en-US" sz="1000">
                <a:latin typeface="Arial" panose="020B0604020202020204" pitchFamily="34" charset="0"/>
              </a:rPr>
              <a:t> Reduced the </a:t>
            </a:r>
            <a:r>
              <a:rPr lang="en-US" altLang="en-US" sz="1000" b="1">
                <a:latin typeface="Arial" panose="020B0604020202020204" pitchFamily="34" charset="0"/>
              </a:rPr>
              <a:t>Generalization Gap</a:t>
            </a:r>
            <a:r>
              <a:rPr lang="en-US" altLang="en-US" sz="1000">
                <a:latin typeface="Arial" panose="020B0604020202020204" pitchFamily="34" charset="0"/>
              </a:rPr>
              <a:t>. The model stopped memorizing the exact position of the banana and started learning the </a:t>
            </a:r>
            <a:r>
              <a:rPr lang="en-US" altLang="en-US" sz="1000" i="1">
                <a:latin typeface="Arial" panose="020B0604020202020204" pitchFamily="34" charset="0"/>
              </a:rPr>
              <a:t>features</a:t>
            </a:r>
            <a:r>
              <a:rPr lang="en-US" altLang="en-US" sz="1000">
                <a:latin typeface="Arial" panose="020B0604020202020204" pitchFamily="34" charset="0"/>
              </a:rPr>
              <a:t> of the banana.</a:t>
            </a:r>
            <a:endParaRPr lang="en-US" altLang="en-US" sz="1000" dirty="0">
              <a:latin typeface="Arial" panose="020B0604020202020204" pitchFamily="34" charset="0"/>
            </a:endParaRP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6D0304F5-A190-B396-3174-9543F319191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349" y="2514600"/>
            <a:ext cx="10806361" cy="36485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9338886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C7748B22-1A21-FFD2-78CD-A52DDD22E1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F09716C-86C6-2CA0-8B84-C7228B2732D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F58EA450-54A3-1E9E-C805-F8DBDD768A0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0936" y="1560940"/>
            <a:ext cx="3491532" cy="605294"/>
          </a:xfrm>
        </p:spPr>
        <p:txBody>
          <a:bodyPr anchor="ctr">
            <a:noAutofit/>
          </a:bodyPr>
          <a:lstStyle/>
          <a:p>
            <a:r>
              <a:rPr lang="en-US" sz="1800" dirty="0"/>
              <a:t>Step 5 — Pretrain on CIFAR-10 and Fine-Tuning on your dataset</a:t>
            </a:r>
            <a:br>
              <a:rPr lang="en-US" sz="1800" dirty="0"/>
            </a:br>
            <a:endParaRPr lang="en-US" sz="1800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3BA70AFB-E84D-4CEE-A924-919BD9B22B2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4712A7EA-BF22-7581-AF61-DB0D8EA543C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Achieved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~92.2% Accuracy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Dynamics: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Experienced initial "Transfer Shock" (Epoch 1-2) while adapting to the new classes, followed by rapid convergence.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Why it worked: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The model didn't have to learn "how to see edges" from scratch—it only had to learn "which edges make a banana."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Comparison: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 From Scratch: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~84% Acc (Unstable).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	- Pretrained: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~92% Acc (Stable).</a:t>
            </a: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A2403B2A-607B-ECD7-490F-25DB4BD082C5}"/>
              </a:ext>
            </a:extLst>
          </p:cNvPr>
          <p:cNvSpPr txBox="1">
            <a:spLocks/>
          </p:cNvSpPr>
          <p:nvPr/>
        </p:nvSpPr>
        <p:spPr>
          <a:xfrm>
            <a:off x="630936" y="609365"/>
            <a:ext cx="3703319" cy="751301"/>
          </a:xfrm>
          <a:prstGeom prst="rect">
            <a:avLst/>
          </a:prstGeom>
        </p:spPr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4000" b="1" dirty="0"/>
              <a:t>Part 2 — Transfer Learning</a:t>
            </a:r>
          </a:p>
        </p:txBody>
      </p:sp>
      <p:pic>
        <p:nvPicPr>
          <p:cNvPr id="3" name="Picture 2">
            <a:extLst>
              <a:ext uri="{FF2B5EF4-FFF2-40B4-BE49-F238E27FC236}">
                <a16:creationId xmlns:a16="http://schemas.microsoft.com/office/drawing/2014/main" id="{4A6E3E3E-BCAA-4346-1778-4149F733FF1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30936" y="2468881"/>
            <a:ext cx="10833896" cy="355187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0704000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D1B8EB0-A113-57E7-DD68-57A3DC20C6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27A29268-0C0C-E888-0FC0-7BB1484D5BB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5FB10B47-841B-AA55-69CD-81E612074DE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24158" y="1515219"/>
            <a:ext cx="3721607" cy="605294"/>
          </a:xfrm>
        </p:spPr>
        <p:txBody>
          <a:bodyPr anchor="ctr">
            <a:noAutofit/>
          </a:bodyPr>
          <a:lstStyle/>
          <a:p>
            <a:r>
              <a:rPr lang="en-US" sz="1800" dirty="0"/>
              <a:t>Step 6 — Adapting a Pretrained Model</a:t>
            </a:r>
            <a:br>
              <a:rPr lang="en-US" sz="1800" dirty="0"/>
            </a:br>
            <a:endParaRPr lang="en-US" sz="1800" dirty="0"/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A34F718F-6FA1-FC49-080C-3BFA5B0E60AA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C52EE676-B87F-C886-CD47-033F34B8272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5" y="502920"/>
            <a:ext cx="6894576" cy="1463040"/>
          </a:xfrm>
        </p:spPr>
        <p:txBody>
          <a:bodyPr anchor="ctr"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Result: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100% Peak Accuracy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(Epoch 7).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The Difference:	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Custom Models: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~85-95% Acc (Struggled to learn features).</a:t>
            </a:r>
          </a:p>
          <a:p>
            <a:pPr marL="457200" lvl="1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None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- ResNet50: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100% Acc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(Already knew the features).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Efficiency: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Reached 95% accuracy in just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4 epochs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Takeaway: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 For small datasets like this,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Transfer Learning is not just an option; it is the optimal solution.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sp>
        <p:nvSpPr>
          <p:cNvPr id="2" name="Subtitle 2">
            <a:extLst>
              <a:ext uri="{FF2B5EF4-FFF2-40B4-BE49-F238E27FC236}">
                <a16:creationId xmlns:a16="http://schemas.microsoft.com/office/drawing/2014/main" id="{7A5BE70C-C020-B07B-CF86-4CD1E9E9C302}"/>
              </a:ext>
            </a:extLst>
          </p:cNvPr>
          <p:cNvSpPr txBox="1">
            <a:spLocks/>
          </p:cNvSpPr>
          <p:nvPr/>
        </p:nvSpPr>
        <p:spPr>
          <a:xfrm>
            <a:off x="542446" y="609365"/>
            <a:ext cx="3703319" cy="751301"/>
          </a:xfrm>
          <a:prstGeom prst="rect">
            <a:avLst/>
          </a:prstGeom>
        </p:spPr>
        <p:txBody>
          <a:bodyPr vert="horz" lIns="91440" tIns="45720" rIns="91440" bIns="45720" rtlCol="0">
            <a:normAutofit fontScale="92500" lnSpcReduction="1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b="1" dirty="0"/>
              <a:t>Part 3 — Transfer learning with ResNet50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B2B127C-5E9E-7A1B-809A-EF92D829D1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" y="2468880"/>
            <a:ext cx="10872511" cy="356640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2508530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D53FCFA9-D635-5EB2-5D3A-47A1002C53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1" name="Rectangle 10">
            <a:extLst>
              <a:ext uri="{FF2B5EF4-FFF2-40B4-BE49-F238E27FC236}">
                <a16:creationId xmlns:a16="http://schemas.microsoft.com/office/drawing/2014/main" id="{7B1CCFFF-6328-7EC1-33B8-3884BF1E162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Title 3">
            <a:extLst>
              <a:ext uri="{FF2B5EF4-FFF2-40B4-BE49-F238E27FC236}">
                <a16:creationId xmlns:a16="http://schemas.microsoft.com/office/drawing/2014/main" id="{286BEA55-1E2B-0BAA-64A7-6EF5979EB96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61772" y="931793"/>
            <a:ext cx="3721607" cy="605294"/>
          </a:xfrm>
        </p:spPr>
        <p:txBody>
          <a:bodyPr anchor="ctr">
            <a:noAutofit/>
          </a:bodyPr>
          <a:lstStyle/>
          <a:p>
            <a:r>
              <a:rPr lang="en-US" sz="2000" dirty="0"/>
              <a:t>Step 7 — Training and Fine-Tuning</a:t>
            </a:r>
          </a:p>
        </p:txBody>
      </p:sp>
      <p:sp>
        <p:nvSpPr>
          <p:cNvPr id="13" name="sketch line">
            <a:extLst>
              <a:ext uri="{FF2B5EF4-FFF2-40B4-BE49-F238E27FC236}">
                <a16:creationId xmlns:a16="http://schemas.microsoft.com/office/drawing/2014/main" id="{8569AF67-BFD7-00AC-3A4D-8A88CD1440C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3566159" y="1225296"/>
            <a:ext cx="1554480" cy="18288"/>
          </a:xfrm>
          <a:custGeom>
            <a:avLst/>
            <a:gdLst>
              <a:gd name="csX0" fmla="*/ 0 w 1554480"/>
              <a:gd name="csY0" fmla="*/ 0 h 18288"/>
              <a:gd name="csX1" fmla="*/ 549250 w 1554480"/>
              <a:gd name="csY1" fmla="*/ 0 h 18288"/>
              <a:gd name="csX2" fmla="*/ 1082954 w 1554480"/>
              <a:gd name="csY2" fmla="*/ 0 h 18288"/>
              <a:gd name="csX3" fmla="*/ 1554480 w 1554480"/>
              <a:gd name="csY3" fmla="*/ 0 h 18288"/>
              <a:gd name="csX4" fmla="*/ 1554480 w 1554480"/>
              <a:gd name="csY4" fmla="*/ 18288 h 18288"/>
              <a:gd name="csX5" fmla="*/ 1067410 w 1554480"/>
              <a:gd name="csY5" fmla="*/ 18288 h 18288"/>
              <a:gd name="csX6" fmla="*/ 549250 w 1554480"/>
              <a:gd name="csY6" fmla="*/ 18288 h 18288"/>
              <a:gd name="csX7" fmla="*/ 0 w 1554480"/>
              <a:gd name="csY7" fmla="*/ 18288 h 18288"/>
              <a:gd name="csX8" fmla="*/ 0 w 1554480"/>
              <a:gd name="csY8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</a:cxnLst>
            <a:rect l="l" t="t" r="r" b="b"/>
            <a:pathLst>
              <a:path w="1554480" h="18288" fill="none" extrusionOk="0">
                <a:moveTo>
                  <a:pt x="0" y="0"/>
                </a:moveTo>
                <a:cubicBezTo>
                  <a:pt x="114141" y="-19864"/>
                  <a:pt x="345055" y="-1657"/>
                  <a:pt x="549250" y="0"/>
                </a:cubicBezTo>
                <a:cubicBezTo>
                  <a:pt x="753445" y="1657"/>
                  <a:pt x="862292" y="-5674"/>
                  <a:pt x="1082954" y="0"/>
                </a:cubicBezTo>
                <a:cubicBezTo>
                  <a:pt x="1303616" y="5674"/>
                  <a:pt x="1363530" y="4537"/>
                  <a:pt x="1554480" y="0"/>
                </a:cubicBezTo>
                <a:cubicBezTo>
                  <a:pt x="1554963" y="7176"/>
                  <a:pt x="1553909" y="13682"/>
                  <a:pt x="1554480" y="18288"/>
                </a:cubicBezTo>
                <a:cubicBezTo>
                  <a:pt x="1338847" y="6127"/>
                  <a:pt x="1215066" y="37851"/>
                  <a:pt x="1067410" y="18288"/>
                </a:cubicBezTo>
                <a:cubicBezTo>
                  <a:pt x="919754" y="-1275"/>
                  <a:pt x="800465" y="3080"/>
                  <a:pt x="549250" y="18288"/>
                </a:cubicBezTo>
                <a:cubicBezTo>
                  <a:pt x="298035" y="33496"/>
                  <a:pt x="158868" y="22769"/>
                  <a:pt x="0" y="18288"/>
                </a:cubicBezTo>
                <a:cubicBezTo>
                  <a:pt x="-655" y="13237"/>
                  <a:pt x="709" y="4645"/>
                  <a:pt x="0" y="0"/>
                </a:cubicBezTo>
                <a:close/>
              </a:path>
              <a:path w="1554480" h="18288" stroke="0" extrusionOk="0">
                <a:moveTo>
                  <a:pt x="0" y="0"/>
                </a:moveTo>
                <a:cubicBezTo>
                  <a:pt x="249941" y="-58"/>
                  <a:pt x="367334" y="23448"/>
                  <a:pt x="502615" y="0"/>
                </a:cubicBezTo>
                <a:cubicBezTo>
                  <a:pt x="637897" y="-23448"/>
                  <a:pt x="813653" y="-20418"/>
                  <a:pt x="974141" y="0"/>
                </a:cubicBezTo>
                <a:cubicBezTo>
                  <a:pt x="1134629" y="20418"/>
                  <a:pt x="1268772" y="6288"/>
                  <a:pt x="1554480" y="0"/>
                </a:cubicBezTo>
                <a:cubicBezTo>
                  <a:pt x="1554917" y="7222"/>
                  <a:pt x="1555359" y="13299"/>
                  <a:pt x="1554480" y="18288"/>
                </a:cubicBezTo>
                <a:cubicBezTo>
                  <a:pt x="1336087" y="12172"/>
                  <a:pt x="1310024" y="19759"/>
                  <a:pt x="1067410" y="18288"/>
                </a:cubicBezTo>
                <a:cubicBezTo>
                  <a:pt x="824796" y="16818"/>
                  <a:pt x="787902" y="34647"/>
                  <a:pt x="518160" y="18288"/>
                </a:cubicBezTo>
                <a:cubicBezTo>
                  <a:pt x="248418" y="1930"/>
                  <a:pt x="133160" y="9205"/>
                  <a:pt x="0" y="18288"/>
                </a:cubicBezTo>
                <a:cubicBezTo>
                  <a:pt x="-643" y="9451"/>
                  <a:pt x="-340" y="7114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Content Placeholder 4">
            <a:extLst>
              <a:ext uri="{FF2B5EF4-FFF2-40B4-BE49-F238E27FC236}">
                <a16:creationId xmlns:a16="http://schemas.microsoft.com/office/drawing/2014/main" id="{D13E330B-B11E-7EE2-3464-B923D56A8ABA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654294" y="318565"/>
            <a:ext cx="7344993" cy="1763907"/>
          </a:xfrm>
        </p:spPr>
        <p:txBody>
          <a:bodyPr anchor="ctr">
            <a:noAutofit/>
          </a:bodyPr>
          <a:lstStyle/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Result: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100% Accuracy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with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0.05 Loss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The Strategy: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Unfrozen layers + Low Learning Rate (1e-5).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Why we did it: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To increase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Model Confidence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.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Frozen Model: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"I'm 80% sure this is a ripe banana."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0" i="1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Unfrozen Model: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"I'm 99.9% sure this is a ripe banana."</a:t>
            </a:r>
          </a:p>
          <a:p>
            <a:pPr marL="0" lvl="0" indent="0" eaLnBrk="0" fontAlgn="base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Visual Proof: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The Validation Loss dropped by </a:t>
            </a:r>
            <a:r>
              <a:rPr kumimoji="0" lang="en-US" altLang="en-US" sz="1200" b="1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~60%</a:t>
            </a:r>
            <a:r>
              <a:rPr kumimoji="0" lang="en-US" altLang="en-US" sz="12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Google Sans Text"/>
              </a:rPr>
              <a:t> (0.14 to 0.05), proving the model learned the specific nuances of our dataset.</a:t>
            </a:r>
            <a:endParaRPr kumimoji="0" lang="en-US" altLang="en-US" sz="1200" b="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</p:txBody>
      </p:sp>
      <p:pic>
        <p:nvPicPr>
          <p:cNvPr id="8" name="Picture 7">
            <a:extLst>
              <a:ext uri="{FF2B5EF4-FFF2-40B4-BE49-F238E27FC236}">
                <a16:creationId xmlns:a16="http://schemas.microsoft.com/office/drawing/2014/main" id="{192EB7F1-D3B4-7332-44DB-ACC6A2FE080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7015" y="2346759"/>
            <a:ext cx="11337970" cy="35794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0583849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100EDD19-6802-4EC3-95CE-CFFAB042CFD6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ADB3434-9515-D50F-77BE-6136CE0015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</p:spPr>
        <p:txBody>
          <a:bodyPr>
            <a:normAutofit/>
          </a:bodyPr>
          <a:lstStyle/>
          <a:p>
            <a:r>
              <a:rPr lang="en-US" sz="5400" b="1"/>
              <a:t>Final Reflection</a:t>
            </a:r>
            <a:endParaRPr lang="en-US" sz="5400"/>
          </a:p>
        </p:txBody>
      </p:sp>
      <p:sp>
        <p:nvSpPr>
          <p:cNvPr id="12" name="sketch line">
            <a:extLst>
              <a:ext uri="{FF2B5EF4-FFF2-40B4-BE49-F238E27FC236}">
                <a16:creationId xmlns:a16="http://schemas.microsoft.com/office/drawing/2014/main" id="{DB17E863-922E-4C26-BD64-E8FD41D28661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669036" y="1677373"/>
            <a:ext cx="10853928" cy="18288"/>
          </a:xfrm>
          <a:custGeom>
            <a:avLst/>
            <a:gdLst>
              <a:gd name="csX0" fmla="*/ 0 w 10853928"/>
              <a:gd name="csY0" fmla="*/ 0 h 18288"/>
              <a:gd name="csX1" fmla="*/ 461292 w 10853928"/>
              <a:gd name="csY1" fmla="*/ 0 h 18288"/>
              <a:gd name="csX2" fmla="*/ 1139662 w 10853928"/>
              <a:gd name="csY2" fmla="*/ 0 h 18288"/>
              <a:gd name="csX3" fmla="*/ 1926572 w 10853928"/>
              <a:gd name="csY3" fmla="*/ 0 h 18288"/>
              <a:gd name="csX4" fmla="*/ 2279325 w 10853928"/>
              <a:gd name="csY4" fmla="*/ 0 h 18288"/>
              <a:gd name="csX5" fmla="*/ 2632078 w 10853928"/>
              <a:gd name="csY5" fmla="*/ 0 h 18288"/>
              <a:gd name="csX6" fmla="*/ 3527527 w 10853928"/>
              <a:gd name="csY6" fmla="*/ 0 h 18288"/>
              <a:gd name="csX7" fmla="*/ 4205897 w 10853928"/>
              <a:gd name="csY7" fmla="*/ 0 h 18288"/>
              <a:gd name="csX8" fmla="*/ 4558650 w 10853928"/>
              <a:gd name="csY8" fmla="*/ 0 h 18288"/>
              <a:gd name="csX9" fmla="*/ 5237020 w 10853928"/>
              <a:gd name="csY9" fmla="*/ 0 h 18288"/>
              <a:gd name="csX10" fmla="*/ 6132469 w 10853928"/>
              <a:gd name="csY10" fmla="*/ 0 h 18288"/>
              <a:gd name="csX11" fmla="*/ 6702301 w 10853928"/>
              <a:gd name="csY11" fmla="*/ 0 h 18288"/>
              <a:gd name="csX12" fmla="*/ 7272132 w 10853928"/>
              <a:gd name="csY12" fmla="*/ 0 h 18288"/>
              <a:gd name="csX13" fmla="*/ 7950502 w 10853928"/>
              <a:gd name="csY13" fmla="*/ 0 h 18288"/>
              <a:gd name="csX14" fmla="*/ 8737412 w 10853928"/>
              <a:gd name="csY14" fmla="*/ 0 h 18288"/>
              <a:gd name="csX15" fmla="*/ 9524322 w 10853928"/>
              <a:gd name="csY15" fmla="*/ 0 h 18288"/>
              <a:gd name="csX16" fmla="*/ 10853928 w 10853928"/>
              <a:gd name="csY16" fmla="*/ 0 h 18288"/>
              <a:gd name="csX17" fmla="*/ 10853928 w 10853928"/>
              <a:gd name="csY17" fmla="*/ 18288 h 18288"/>
              <a:gd name="csX18" fmla="*/ 10392636 w 10853928"/>
              <a:gd name="csY18" fmla="*/ 18288 h 18288"/>
              <a:gd name="csX19" fmla="*/ 9497187 w 10853928"/>
              <a:gd name="csY19" fmla="*/ 18288 h 18288"/>
              <a:gd name="csX20" fmla="*/ 8818817 w 10853928"/>
              <a:gd name="csY20" fmla="*/ 18288 h 18288"/>
              <a:gd name="csX21" fmla="*/ 8466064 w 10853928"/>
              <a:gd name="csY21" fmla="*/ 18288 h 18288"/>
              <a:gd name="csX22" fmla="*/ 7787693 w 10853928"/>
              <a:gd name="csY22" fmla="*/ 18288 h 18288"/>
              <a:gd name="csX23" fmla="*/ 7217862 w 10853928"/>
              <a:gd name="csY23" fmla="*/ 18288 h 18288"/>
              <a:gd name="csX24" fmla="*/ 6648031 w 10853928"/>
              <a:gd name="csY24" fmla="*/ 18288 h 18288"/>
              <a:gd name="csX25" fmla="*/ 6078200 w 10853928"/>
              <a:gd name="csY25" fmla="*/ 18288 h 18288"/>
              <a:gd name="csX26" fmla="*/ 5508368 w 10853928"/>
              <a:gd name="csY26" fmla="*/ 18288 h 18288"/>
              <a:gd name="csX27" fmla="*/ 4721459 w 10853928"/>
              <a:gd name="csY27" fmla="*/ 18288 h 18288"/>
              <a:gd name="csX28" fmla="*/ 4043088 w 10853928"/>
              <a:gd name="csY28" fmla="*/ 18288 h 18288"/>
              <a:gd name="csX29" fmla="*/ 3690336 w 10853928"/>
              <a:gd name="csY29" fmla="*/ 18288 h 18288"/>
              <a:gd name="csX30" fmla="*/ 3120504 w 10853928"/>
              <a:gd name="csY30" fmla="*/ 18288 h 18288"/>
              <a:gd name="csX31" fmla="*/ 2333595 w 10853928"/>
              <a:gd name="csY31" fmla="*/ 18288 h 18288"/>
              <a:gd name="csX32" fmla="*/ 1872303 w 10853928"/>
              <a:gd name="csY32" fmla="*/ 18288 h 18288"/>
              <a:gd name="csX33" fmla="*/ 976854 w 10853928"/>
              <a:gd name="csY33" fmla="*/ 18288 h 18288"/>
              <a:gd name="csX34" fmla="*/ 0 w 10853928"/>
              <a:gd name="csY34" fmla="*/ 18288 h 18288"/>
              <a:gd name="csX35" fmla="*/ 0 w 10853928"/>
              <a:gd name="csY35" fmla="*/ 0 h 18288"/>
            </a:gdLst>
            <a:ahLst/>
            <a:cxnLst>
              <a:cxn ang="0">
                <a:pos x="csX0" y="csY0"/>
              </a:cxn>
              <a:cxn ang="0">
                <a:pos x="csX1" y="csY1"/>
              </a:cxn>
              <a:cxn ang="0">
                <a:pos x="csX2" y="csY2"/>
              </a:cxn>
              <a:cxn ang="0">
                <a:pos x="csX3" y="csY3"/>
              </a:cxn>
              <a:cxn ang="0">
                <a:pos x="csX4" y="csY4"/>
              </a:cxn>
              <a:cxn ang="0">
                <a:pos x="csX5" y="csY5"/>
              </a:cxn>
              <a:cxn ang="0">
                <a:pos x="csX6" y="csY6"/>
              </a:cxn>
              <a:cxn ang="0">
                <a:pos x="csX7" y="csY7"/>
              </a:cxn>
              <a:cxn ang="0">
                <a:pos x="csX8" y="csY8"/>
              </a:cxn>
              <a:cxn ang="0">
                <a:pos x="csX9" y="csY9"/>
              </a:cxn>
              <a:cxn ang="0">
                <a:pos x="csX10" y="csY10"/>
              </a:cxn>
              <a:cxn ang="0">
                <a:pos x="csX11" y="csY11"/>
              </a:cxn>
              <a:cxn ang="0">
                <a:pos x="csX12" y="csY12"/>
              </a:cxn>
              <a:cxn ang="0">
                <a:pos x="csX13" y="csY13"/>
              </a:cxn>
              <a:cxn ang="0">
                <a:pos x="csX14" y="csY14"/>
              </a:cxn>
              <a:cxn ang="0">
                <a:pos x="csX15" y="csY15"/>
              </a:cxn>
              <a:cxn ang="0">
                <a:pos x="csX16" y="csY16"/>
              </a:cxn>
              <a:cxn ang="0">
                <a:pos x="csX17" y="csY17"/>
              </a:cxn>
              <a:cxn ang="0">
                <a:pos x="csX18" y="csY18"/>
              </a:cxn>
              <a:cxn ang="0">
                <a:pos x="csX19" y="csY19"/>
              </a:cxn>
              <a:cxn ang="0">
                <a:pos x="csX20" y="csY20"/>
              </a:cxn>
              <a:cxn ang="0">
                <a:pos x="csX21" y="csY21"/>
              </a:cxn>
              <a:cxn ang="0">
                <a:pos x="csX22" y="csY22"/>
              </a:cxn>
              <a:cxn ang="0">
                <a:pos x="csX23" y="csY23"/>
              </a:cxn>
              <a:cxn ang="0">
                <a:pos x="csX24" y="csY24"/>
              </a:cxn>
              <a:cxn ang="0">
                <a:pos x="csX25" y="csY25"/>
              </a:cxn>
              <a:cxn ang="0">
                <a:pos x="csX26" y="csY26"/>
              </a:cxn>
              <a:cxn ang="0">
                <a:pos x="csX27" y="csY27"/>
              </a:cxn>
              <a:cxn ang="0">
                <a:pos x="csX28" y="csY28"/>
              </a:cxn>
              <a:cxn ang="0">
                <a:pos x="csX29" y="csY29"/>
              </a:cxn>
              <a:cxn ang="0">
                <a:pos x="csX30" y="csY30"/>
              </a:cxn>
              <a:cxn ang="0">
                <a:pos x="csX31" y="csY31"/>
              </a:cxn>
              <a:cxn ang="0">
                <a:pos x="csX32" y="csY32"/>
              </a:cxn>
              <a:cxn ang="0">
                <a:pos x="csX33" y="csY33"/>
              </a:cxn>
              <a:cxn ang="0">
                <a:pos x="csX34" y="csY34"/>
              </a:cxn>
              <a:cxn ang="0">
                <a:pos x="csX35" y="csY35"/>
              </a:cxn>
            </a:cxnLst>
            <a:rect l="l" t="t" r="r" b="b"/>
            <a:pathLst>
              <a:path w="10853928" h="18288" fill="none" extrusionOk="0">
                <a:moveTo>
                  <a:pt x="0" y="0"/>
                </a:moveTo>
                <a:cubicBezTo>
                  <a:pt x="146993" y="-19076"/>
                  <a:pt x="347684" y="-4790"/>
                  <a:pt x="461292" y="0"/>
                </a:cubicBezTo>
                <a:cubicBezTo>
                  <a:pt x="574900" y="4790"/>
                  <a:pt x="808367" y="19821"/>
                  <a:pt x="1139662" y="0"/>
                </a:cubicBezTo>
                <a:cubicBezTo>
                  <a:pt x="1470957" y="-19821"/>
                  <a:pt x="1627405" y="5721"/>
                  <a:pt x="1926572" y="0"/>
                </a:cubicBezTo>
                <a:cubicBezTo>
                  <a:pt x="2225739" y="-5721"/>
                  <a:pt x="2137730" y="-3235"/>
                  <a:pt x="2279325" y="0"/>
                </a:cubicBezTo>
                <a:cubicBezTo>
                  <a:pt x="2420920" y="3235"/>
                  <a:pt x="2456518" y="9685"/>
                  <a:pt x="2632078" y="0"/>
                </a:cubicBezTo>
                <a:cubicBezTo>
                  <a:pt x="2807638" y="-9685"/>
                  <a:pt x="3211516" y="-43007"/>
                  <a:pt x="3527527" y="0"/>
                </a:cubicBezTo>
                <a:cubicBezTo>
                  <a:pt x="3843538" y="43007"/>
                  <a:pt x="4058833" y="22042"/>
                  <a:pt x="4205897" y="0"/>
                </a:cubicBezTo>
                <a:cubicBezTo>
                  <a:pt x="4352961" y="-22042"/>
                  <a:pt x="4474805" y="-11846"/>
                  <a:pt x="4558650" y="0"/>
                </a:cubicBezTo>
                <a:cubicBezTo>
                  <a:pt x="4642495" y="11846"/>
                  <a:pt x="5041928" y="-6069"/>
                  <a:pt x="5237020" y="0"/>
                </a:cubicBezTo>
                <a:cubicBezTo>
                  <a:pt x="5432112" y="6069"/>
                  <a:pt x="5943266" y="-17479"/>
                  <a:pt x="6132469" y="0"/>
                </a:cubicBezTo>
                <a:cubicBezTo>
                  <a:pt x="6321672" y="17479"/>
                  <a:pt x="6483872" y="26234"/>
                  <a:pt x="6702301" y="0"/>
                </a:cubicBezTo>
                <a:cubicBezTo>
                  <a:pt x="6920730" y="-26234"/>
                  <a:pt x="6991194" y="-15156"/>
                  <a:pt x="7272132" y="0"/>
                </a:cubicBezTo>
                <a:cubicBezTo>
                  <a:pt x="7553070" y="15156"/>
                  <a:pt x="7684444" y="-32961"/>
                  <a:pt x="7950502" y="0"/>
                </a:cubicBezTo>
                <a:cubicBezTo>
                  <a:pt x="8216560" y="32961"/>
                  <a:pt x="8493290" y="-10491"/>
                  <a:pt x="8737412" y="0"/>
                </a:cubicBezTo>
                <a:cubicBezTo>
                  <a:pt x="8981534" y="10491"/>
                  <a:pt x="9191586" y="-13899"/>
                  <a:pt x="9524322" y="0"/>
                </a:cubicBezTo>
                <a:cubicBezTo>
                  <a:pt x="9857058" y="13899"/>
                  <a:pt x="10297509" y="7485"/>
                  <a:pt x="10853928" y="0"/>
                </a:cubicBezTo>
                <a:cubicBezTo>
                  <a:pt x="10854574" y="4451"/>
                  <a:pt x="10854418" y="9226"/>
                  <a:pt x="10853928" y="18288"/>
                </a:cubicBezTo>
                <a:cubicBezTo>
                  <a:pt x="10691638" y="28522"/>
                  <a:pt x="10574319" y="29578"/>
                  <a:pt x="10392636" y="18288"/>
                </a:cubicBezTo>
                <a:cubicBezTo>
                  <a:pt x="10210953" y="6998"/>
                  <a:pt x="9836277" y="-16742"/>
                  <a:pt x="9497187" y="18288"/>
                </a:cubicBezTo>
                <a:cubicBezTo>
                  <a:pt x="9158097" y="53318"/>
                  <a:pt x="9119479" y="30714"/>
                  <a:pt x="8818817" y="18288"/>
                </a:cubicBezTo>
                <a:cubicBezTo>
                  <a:pt x="8518155" y="5863"/>
                  <a:pt x="8640037" y="6483"/>
                  <a:pt x="8466064" y="18288"/>
                </a:cubicBezTo>
                <a:cubicBezTo>
                  <a:pt x="8292091" y="30093"/>
                  <a:pt x="7997656" y="18914"/>
                  <a:pt x="7787693" y="18288"/>
                </a:cubicBezTo>
                <a:cubicBezTo>
                  <a:pt x="7577730" y="17662"/>
                  <a:pt x="7412468" y="21416"/>
                  <a:pt x="7217862" y="18288"/>
                </a:cubicBezTo>
                <a:cubicBezTo>
                  <a:pt x="7023256" y="15160"/>
                  <a:pt x="6898018" y="14824"/>
                  <a:pt x="6648031" y="18288"/>
                </a:cubicBezTo>
                <a:cubicBezTo>
                  <a:pt x="6398044" y="21752"/>
                  <a:pt x="6254402" y="38625"/>
                  <a:pt x="6078200" y="18288"/>
                </a:cubicBezTo>
                <a:cubicBezTo>
                  <a:pt x="5901998" y="-2049"/>
                  <a:pt x="5622886" y="3213"/>
                  <a:pt x="5508368" y="18288"/>
                </a:cubicBezTo>
                <a:cubicBezTo>
                  <a:pt x="5393850" y="33363"/>
                  <a:pt x="5036260" y="26830"/>
                  <a:pt x="4721459" y="18288"/>
                </a:cubicBezTo>
                <a:cubicBezTo>
                  <a:pt x="4406658" y="9746"/>
                  <a:pt x="4239221" y="41551"/>
                  <a:pt x="4043088" y="18288"/>
                </a:cubicBezTo>
                <a:cubicBezTo>
                  <a:pt x="3846955" y="-4975"/>
                  <a:pt x="3818802" y="34658"/>
                  <a:pt x="3690336" y="18288"/>
                </a:cubicBezTo>
                <a:cubicBezTo>
                  <a:pt x="3561870" y="1918"/>
                  <a:pt x="3265491" y="42194"/>
                  <a:pt x="3120504" y="18288"/>
                </a:cubicBezTo>
                <a:cubicBezTo>
                  <a:pt x="2975517" y="-5618"/>
                  <a:pt x="2720254" y="36673"/>
                  <a:pt x="2333595" y="18288"/>
                </a:cubicBezTo>
                <a:cubicBezTo>
                  <a:pt x="1946936" y="-97"/>
                  <a:pt x="2097241" y="5776"/>
                  <a:pt x="1872303" y="18288"/>
                </a:cubicBezTo>
                <a:cubicBezTo>
                  <a:pt x="1647365" y="30800"/>
                  <a:pt x="1282708" y="45380"/>
                  <a:pt x="976854" y="18288"/>
                </a:cubicBezTo>
                <a:cubicBezTo>
                  <a:pt x="671000" y="-8804"/>
                  <a:pt x="408401" y="-12775"/>
                  <a:pt x="0" y="18288"/>
                </a:cubicBezTo>
                <a:cubicBezTo>
                  <a:pt x="-213" y="9468"/>
                  <a:pt x="187" y="4459"/>
                  <a:pt x="0" y="0"/>
                </a:cubicBezTo>
                <a:close/>
              </a:path>
              <a:path w="10853928" h="18288" stroke="0" extrusionOk="0">
                <a:moveTo>
                  <a:pt x="0" y="0"/>
                </a:moveTo>
                <a:cubicBezTo>
                  <a:pt x="267322" y="15284"/>
                  <a:pt x="415388" y="-21048"/>
                  <a:pt x="569831" y="0"/>
                </a:cubicBezTo>
                <a:cubicBezTo>
                  <a:pt x="724274" y="21048"/>
                  <a:pt x="769333" y="-2353"/>
                  <a:pt x="922584" y="0"/>
                </a:cubicBezTo>
                <a:cubicBezTo>
                  <a:pt x="1075835" y="2353"/>
                  <a:pt x="1399490" y="-145"/>
                  <a:pt x="1818033" y="0"/>
                </a:cubicBezTo>
                <a:cubicBezTo>
                  <a:pt x="2236576" y="145"/>
                  <a:pt x="2145330" y="5482"/>
                  <a:pt x="2387864" y="0"/>
                </a:cubicBezTo>
                <a:cubicBezTo>
                  <a:pt x="2630398" y="-5482"/>
                  <a:pt x="2793207" y="18487"/>
                  <a:pt x="2957695" y="0"/>
                </a:cubicBezTo>
                <a:cubicBezTo>
                  <a:pt x="3122183" y="-18487"/>
                  <a:pt x="3579141" y="19003"/>
                  <a:pt x="3853144" y="0"/>
                </a:cubicBezTo>
                <a:cubicBezTo>
                  <a:pt x="4127147" y="-19003"/>
                  <a:pt x="4209857" y="12211"/>
                  <a:pt x="4314436" y="0"/>
                </a:cubicBezTo>
                <a:cubicBezTo>
                  <a:pt x="4419015" y="-12211"/>
                  <a:pt x="4762459" y="-17220"/>
                  <a:pt x="5209885" y="0"/>
                </a:cubicBezTo>
                <a:cubicBezTo>
                  <a:pt x="5657311" y="17220"/>
                  <a:pt x="5692663" y="-3290"/>
                  <a:pt x="6105335" y="0"/>
                </a:cubicBezTo>
                <a:cubicBezTo>
                  <a:pt x="6518007" y="3290"/>
                  <a:pt x="6455516" y="-5124"/>
                  <a:pt x="6783705" y="0"/>
                </a:cubicBezTo>
                <a:cubicBezTo>
                  <a:pt x="7111894" y="5124"/>
                  <a:pt x="7441941" y="-17829"/>
                  <a:pt x="7679154" y="0"/>
                </a:cubicBezTo>
                <a:cubicBezTo>
                  <a:pt x="7916367" y="17829"/>
                  <a:pt x="8102967" y="-24363"/>
                  <a:pt x="8248985" y="0"/>
                </a:cubicBezTo>
                <a:cubicBezTo>
                  <a:pt x="8395003" y="24363"/>
                  <a:pt x="8552393" y="25505"/>
                  <a:pt x="8818817" y="0"/>
                </a:cubicBezTo>
                <a:cubicBezTo>
                  <a:pt x="9085241" y="-25505"/>
                  <a:pt x="9411308" y="38000"/>
                  <a:pt x="9605726" y="0"/>
                </a:cubicBezTo>
                <a:cubicBezTo>
                  <a:pt x="9800144" y="-38000"/>
                  <a:pt x="10006468" y="-25741"/>
                  <a:pt x="10175558" y="0"/>
                </a:cubicBezTo>
                <a:cubicBezTo>
                  <a:pt x="10344648" y="25741"/>
                  <a:pt x="10696282" y="695"/>
                  <a:pt x="10853928" y="0"/>
                </a:cubicBezTo>
                <a:cubicBezTo>
                  <a:pt x="10853521" y="8690"/>
                  <a:pt x="10853774" y="14141"/>
                  <a:pt x="10853928" y="18288"/>
                </a:cubicBezTo>
                <a:cubicBezTo>
                  <a:pt x="10608124" y="24255"/>
                  <a:pt x="10343415" y="22307"/>
                  <a:pt x="10067018" y="18288"/>
                </a:cubicBezTo>
                <a:cubicBezTo>
                  <a:pt x="9790621" y="14270"/>
                  <a:pt x="9843266" y="3564"/>
                  <a:pt x="9714266" y="18288"/>
                </a:cubicBezTo>
                <a:cubicBezTo>
                  <a:pt x="9585266" y="33012"/>
                  <a:pt x="9379484" y="1875"/>
                  <a:pt x="9252974" y="18288"/>
                </a:cubicBezTo>
                <a:cubicBezTo>
                  <a:pt x="9126464" y="34701"/>
                  <a:pt x="8580678" y="-4904"/>
                  <a:pt x="8357525" y="18288"/>
                </a:cubicBezTo>
                <a:cubicBezTo>
                  <a:pt x="8134372" y="41480"/>
                  <a:pt x="7903199" y="26458"/>
                  <a:pt x="7679154" y="18288"/>
                </a:cubicBezTo>
                <a:cubicBezTo>
                  <a:pt x="7455109" y="10118"/>
                  <a:pt x="7435944" y="27109"/>
                  <a:pt x="7217862" y="18288"/>
                </a:cubicBezTo>
                <a:cubicBezTo>
                  <a:pt x="6999780" y="9467"/>
                  <a:pt x="6680409" y="18985"/>
                  <a:pt x="6539492" y="18288"/>
                </a:cubicBezTo>
                <a:cubicBezTo>
                  <a:pt x="6398575" y="17592"/>
                  <a:pt x="6312077" y="33018"/>
                  <a:pt x="6186739" y="18288"/>
                </a:cubicBezTo>
                <a:cubicBezTo>
                  <a:pt x="6061401" y="3558"/>
                  <a:pt x="5947033" y="12075"/>
                  <a:pt x="5833986" y="18288"/>
                </a:cubicBezTo>
                <a:cubicBezTo>
                  <a:pt x="5720939" y="24501"/>
                  <a:pt x="5482226" y="8586"/>
                  <a:pt x="5155616" y="18288"/>
                </a:cubicBezTo>
                <a:cubicBezTo>
                  <a:pt x="4829006" y="27991"/>
                  <a:pt x="4841274" y="29316"/>
                  <a:pt x="4694324" y="18288"/>
                </a:cubicBezTo>
                <a:cubicBezTo>
                  <a:pt x="4547374" y="7260"/>
                  <a:pt x="4077675" y="7013"/>
                  <a:pt x="3907414" y="18288"/>
                </a:cubicBezTo>
                <a:cubicBezTo>
                  <a:pt x="3737153" y="29564"/>
                  <a:pt x="3538393" y="21630"/>
                  <a:pt x="3446122" y="18288"/>
                </a:cubicBezTo>
                <a:cubicBezTo>
                  <a:pt x="3353851" y="14946"/>
                  <a:pt x="2990320" y="-8091"/>
                  <a:pt x="2659212" y="18288"/>
                </a:cubicBezTo>
                <a:cubicBezTo>
                  <a:pt x="2328104" y="44667"/>
                  <a:pt x="2427653" y="9607"/>
                  <a:pt x="2306460" y="18288"/>
                </a:cubicBezTo>
                <a:cubicBezTo>
                  <a:pt x="2185267" y="26969"/>
                  <a:pt x="1719763" y="3717"/>
                  <a:pt x="1519550" y="18288"/>
                </a:cubicBezTo>
                <a:cubicBezTo>
                  <a:pt x="1319337" y="32860"/>
                  <a:pt x="1167371" y="17040"/>
                  <a:pt x="1058258" y="18288"/>
                </a:cubicBezTo>
                <a:cubicBezTo>
                  <a:pt x="949145" y="19536"/>
                  <a:pt x="780234" y="31447"/>
                  <a:pt x="705505" y="18288"/>
                </a:cubicBezTo>
                <a:cubicBezTo>
                  <a:pt x="630776" y="5129"/>
                  <a:pt x="215796" y="30056"/>
                  <a:pt x="0" y="18288"/>
                </a:cubicBezTo>
                <a:cubicBezTo>
                  <a:pt x="-53" y="11301"/>
                  <a:pt x="-649" y="7756"/>
                  <a:pt x="0" y="0"/>
                </a:cubicBezTo>
                <a:close/>
              </a:path>
            </a:pathLst>
          </a:custGeom>
          <a:solidFill>
            <a:schemeClr val="accent2"/>
          </a:solidFill>
          <a:ln w="41275" cap="rnd">
            <a:solidFill>
              <a:schemeClr val="accent2"/>
            </a:solidFill>
            <a:round/>
            <a:extLst>
              <a:ext uri="{C807C97D-BFC1-408E-A445-0C87EB9F89A2}">
                <ask:lineSketchStyleProps xmlns:ask="http://schemas.microsoft.com/office/drawing/2018/sketchyshapes" sd="1219033472">
                  <a:prstGeom prst="rect">
                    <a:avLst/>
                  </a:prstGeom>
                  <ask:type>
                    <ask:lineSketchFreehand/>
                  </ask:type>
                </ask:lineSketchStyleProps>
              </a:ext>
            </a:extLst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angle 2">
            <a:extLst>
              <a:ext uri="{FF2B5EF4-FFF2-40B4-BE49-F238E27FC236}">
                <a16:creationId xmlns:a16="http://schemas.microsoft.com/office/drawing/2014/main" id="{3FF802BC-50C6-8078-9FFC-2A42BB552224}"/>
              </a:ext>
            </a:extLst>
          </p:cNvPr>
          <p:cNvSpPr>
            <a:spLocks noGrp="1" noChangeArrowheads="1"/>
          </p:cNvSpPr>
          <p:nvPr>
            <p:ph idx="1"/>
          </p:nvPr>
        </p:nvSpPr>
        <p:spPr bwMode="auto">
          <a:xfrm>
            <a:off x="838200" y="1929384"/>
            <a:ext cx="105156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0" rIns="91440" bIns="45720" numCol="1" anchorCtr="0" compatLnSpc="1">
            <a:prstTxWarp prst="textNoShape">
              <a:avLst/>
            </a:prstTxWarp>
            <a:normAutofit/>
          </a:bodyPr>
          <a:lstStyle/>
          <a:p>
            <a:pPr marL="0" marR="0" lvl="0" indent="0" defTabSz="914400" rtl="0" eaLnBrk="0" fontAlgn="base" latinLnBrk="0" hangingPunct="0">
              <a:spcBef>
                <a:spcPts val="500"/>
              </a:spcBef>
              <a:spcAft>
                <a:spcPct val="0"/>
              </a:spcAft>
              <a:buClrTx/>
              <a:buSzTx/>
              <a:buFontTx/>
              <a:buNone/>
              <a:tabLst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1. What architectural choices mattered most?</a:t>
            </a:r>
          </a:p>
          <a:p>
            <a:pPr eaLnBrk="0" fontAlgn="base" hangingPunct="0">
              <a:spcBef>
                <a:spcPts val="500"/>
              </a:spcBef>
              <a:spcAft>
                <a:spcPct val="0"/>
              </a:spcAft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Batch Normalization was the "Stabilizer":</a:t>
            </a: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</a:endParaRP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Evidence: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In Experiment 2 (</a:t>
            </a:r>
            <a:r>
              <a:rPr kumimoji="0" lang="en-US" altLang="en-US" sz="1900" b="0" i="0" u="none" strike="noStrike" cap="none" normalizeH="0" baseline="0" dirty="0" err="1">
                <a:ln>
                  <a:noFill/>
                </a:ln>
                <a:effectLst/>
              </a:rPr>
              <a:t>DeepCNN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without BN), the model was highly volatile and struggled to converge.</a:t>
            </a: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Impact: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lang="en-US" sz="2000" dirty="0"/>
              <a:t>Adding Batch Normalization accelerated learning and raised peak accuracy to ~92%, but left validation highly volatile.</a:t>
            </a: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spcBef>
                <a:spcPts val="5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Dropout was the "Generalizer":</a:t>
            </a: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Evidence: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lang="en-US" sz="2000" dirty="0"/>
              <a:t>The </a:t>
            </a:r>
            <a:r>
              <a:rPr lang="en-US" sz="2000" dirty="0" err="1"/>
              <a:t>DeepCNN</a:t>
            </a:r>
            <a:r>
              <a:rPr lang="en-US" sz="2000" dirty="0"/>
              <a:t> with BN alone showed signs of overfitting and extreme validation instability</a:t>
            </a: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</a:endParaRPr>
          </a:p>
          <a:p>
            <a:pPr marL="457200" lvl="1" indent="0"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Impact: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</a:t>
            </a:r>
            <a:r>
              <a:rPr lang="en-US" sz="2000" dirty="0" err="1"/>
              <a:t>dding</a:t>
            </a:r>
            <a:r>
              <a:rPr lang="en-US" sz="2000"/>
              <a:t> Dropout (Experiment R1) successfully smoothed the validation curve and closed the generalization gap.</a:t>
            </a: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</a:endParaRPr>
          </a:p>
          <a:p>
            <a:pPr marL="0" marR="0" lvl="0" indent="0" defTabSz="914400" rtl="0" eaLnBrk="0" fontAlgn="base" latinLnBrk="0" hangingPunct="0">
              <a:spcBef>
                <a:spcPts val="50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Depth alone is dangerous:</a:t>
            </a: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</a:endParaRP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n-US" altLang="en-US" sz="1900" b="1" i="0" u="none" strike="noStrike" cap="none" normalizeH="0" baseline="0" dirty="0">
                <a:ln>
                  <a:noFill/>
                </a:ln>
                <a:effectLst/>
              </a:rPr>
              <a:t>Insight: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Simply adding layers (</a:t>
            </a:r>
            <a:r>
              <a:rPr kumimoji="0" lang="en-US" altLang="en-US" sz="1900" b="0" i="0" u="none" strike="noStrike" cap="none" normalizeH="0" baseline="0" dirty="0" err="1">
                <a:ln>
                  <a:noFill/>
                </a:ln>
                <a:effectLst/>
              </a:rPr>
              <a:t>SmallCNN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to </a:t>
            </a:r>
            <a:r>
              <a:rPr kumimoji="0" lang="en-US" altLang="en-US" sz="1900" b="0" i="0" u="none" strike="noStrike" cap="none" normalizeH="0" baseline="0" dirty="0" err="1">
                <a:ln>
                  <a:noFill/>
                </a:ln>
                <a:effectLst/>
              </a:rPr>
              <a:t>DeepCNN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) without regularization actually </a:t>
            </a:r>
            <a:r>
              <a:rPr kumimoji="0" lang="en-US" altLang="en-US" sz="1900" b="0" i="1" u="none" strike="noStrike" cap="none" normalizeH="0" baseline="0" dirty="0">
                <a:ln>
                  <a:noFill/>
                </a:ln>
                <a:effectLst/>
              </a:rPr>
              <a:t>hurt</a:t>
            </a:r>
            <a:r>
              <a:rPr kumimoji="0" lang="en-US" altLang="en-US" sz="1900" b="0" i="0" u="none" strike="noStrike" cap="none" normalizeH="0" baseline="0" dirty="0">
                <a:ln>
                  <a:noFill/>
                </a:ln>
                <a:effectLst/>
              </a:rPr>
              <a:t> stability. Depth requires control mechanisms (BN/Dropout) to be effective.</a:t>
            </a:r>
          </a:p>
          <a:p>
            <a:pPr marL="457200" marR="0" lvl="1" indent="0" defTabSz="914400" rtl="0" eaLnBrk="0" fontAlgn="base" latinLnBrk="0" hangingPunct="0"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n-US" altLang="en-US" sz="1900" b="0" i="0" u="none" strike="noStrike" cap="none" normalizeH="0" baseline="0" dirty="0">
              <a:ln>
                <a:noFill/>
              </a:ln>
              <a:effectLst/>
            </a:endParaRPr>
          </a:p>
        </p:txBody>
      </p:sp>
    </p:spTree>
    <p:extLst>
      <p:ext uri="{BB962C8B-B14F-4D97-AF65-F5344CB8AC3E}">
        <p14:creationId xmlns:p14="http://schemas.microsoft.com/office/powerpoint/2010/main" val="289048158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5F9FA9BC-A54C-7A54-7146-599AF4CBE4D9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0791" y="1451883"/>
            <a:ext cx="105156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0" rIns="91440" bIns="45720" numCol="1" rtlCol="0" anchorCtr="0" compatLnSpc="1">
            <a:prstTxWarp prst="textNoShape">
              <a:avLst/>
            </a:prstTxWarp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lvl="0" indent="0">
              <a:buNone/>
              <a:defRPr/>
            </a:pPr>
            <a:r>
              <a:rPr lang="en-US" sz="2000" b="1"/>
              <a:t>2. Which optimization strategies worked best?</a:t>
            </a:r>
          </a:p>
          <a:p>
            <a:pPr lvl="0">
              <a:defRPr/>
            </a:pPr>
            <a:r>
              <a:rPr lang="en-US" sz="2000" b="1"/>
              <a:t>Adam vs. SGD:</a:t>
            </a:r>
            <a:endParaRPr lang="en-US" sz="2000"/>
          </a:p>
          <a:p>
            <a:pPr lvl="1">
              <a:defRPr/>
            </a:pPr>
            <a:r>
              <a:rPr lang="en-US" sz="2000" b="1"/>
              <a:t>Winner:</a:t>
            </a:r>
            <a:r>
              <a:rPr lang="en-US" sz="2000"/>
              <a:t> </a:t>
            </a:r>
            <a:r>
              <a:rPr lang="en-US" sz="2000" b="1"/>
              <a:t>Adam</a:t>
            </a:r>
            <a:r>
              <a:rPr lang="en-US" sz="2000"/>
              <a:t>.</a:t>
            </a:r>
          </a:p>
          <a:p>
            <a:pPr lvl="1">
              <a:defRPr/>
            </a:pPr>
            <a:r>
              <a:rPr lang="en-US" sz="2000" b="1"/>
              <a:t>Reason:</a:t>
            </a:r>
            <a:r>
              <a:rPr lang="en-US" sz="2000"/>
              <a:t> Adam converged significantly faster (2-3 epochs) compared to SGD (which stagnated for the first 4 epochs). For a small dataset where we want quick feedback, Adam's adaptive learning rates were superior.</a:t>
            </a:r>
          </a:p>
          <a:p>
            <a:pPr lvl="0">
              <a:defRPr/>
            </a:pPr>
            <a:r>
              <a:rPr lang="en-US" sz="2000" b="1"/>
              <a:t>Learning Rate Sensitivity:</a:t>
            </a:r>
            <a:endParaRPr lang="en-US" sz="2000"/>
          </a:p>
          <a:p>
            <a:pPr lvl="1">
              <a:defRPr/>
            </a:pPr>
            <a:r>
              <a:rPr lang="en-US" sz="2000" b="1"/>
              <a:t>Critical Moment:</a:t>
            </a:r>
            <a:r>
              <a:rPr lang="en-US" sz="2000"/>
              <a:t> In Step 7 (Unfreezing ResNet), lowering the learning rate to 1e-5 was the deciding factor. It allowed us to refine the weights to </a:t>
            </a:r>
            <a:r>
              <a:rPr lang="en-US" sz="2000" b="1"/>
              <a:t>100% accuracy</a:t>
            </a:r>
            <a:r>
              <a:rPr lang="en-US" sz="2000"/>
              <a:t> without triggering "Catastrophic Forgetting" (which would have destroyed the pre-learned features).</a:t>
            </a:r>
            <a:endParaRPr lang="en-US" altLang="en-US" sz="2000">
              <a:latin typeface="Google Sans Text"/>
            </a:endParaRPr>
          </a:p>
          <a:p>
            <a:endParaRPr lang="en-US" sz="2000" dirty="0"/>
          </a:p>
        </p:txBody>
      </p:sp>
    </p:spTree>
    <p:extLst>
      <p:ext uri="{BB962C8B-B14F-4D97-AF65-F5344CB8AC3E}">
        <p14:creationId xmlns:p14="http://schemas.microsoft.com/office/powerpoint/2010/main" val="240698278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3F9C4A1-42B3-8FA6-05A0-8F0EC15E664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920F996F-9B61-3398-0F62-369CB5291AA3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0791" y="1451884"/>
            <a:ext cx="10447266" cy="3373788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0" rIns="91440" bIns="45720" numCol="1" rtlCol="0" anchorCtr="0" compatLnSpc="1">
            <a:prstTxWarp prst="textNoShape">
              <a:avLst/>
            </a:prstTxWarp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3. When did transfer learning help?</a:t>
            </a:r>
          </a:p>
          <a:p>
            <a:r>
              <a:rPr lang="en-US" sz="2000" b="1" dirty="0"/>
              <a:t>The "Small Data" Problem:</a:t>
            </a:r>
            <a:endParaRPr lang="en-US" sz="2000" dirty="0"/>
          </a:p>
          <a:p>
            <a:pPr lvl="1"/>
            <a:r>
              <a:rPr lang="en-US" sz="2000" b="1" dirty="0"/>
              <a:t>Context:</a:t>
            </a:r>
            <a:r>
              <a:rPr lang="en-US" sz="2000" dirty="0"/>
              <a:t> With only ~1000 images, our custom models had to learn everything (edges, textures, shapes) from scratch. This is inefficient.</a:t>
            </a:r>
          </a:p>
          <a:p>
            <a:r>
              <a:rPr lang="en-US" sz="2000" b="1" dirty="0"/>
              <a:t>The "Knowledge" Advantage:</a:t>
            </a:r>
            <a:endParaRPr lang="en-US" sz="2000" dirty="0"/>
          </a:p>
          <a:p>
            <a:pPr lvl="1"/>
            <a:r>
              <a:rPr lang="en-US" sz="2000" b="1" dirty="0"/>
              <a:t>Impact:</a:t>
            </a:r>
            <a:r>
              <a:rPr lang="en-US" sz="2000" dirty="0"/>
              <a:t> Transfer Learning (ResNet50) brought in "knowledge" from 1.2 million ImageNet images. The model didn't have to learn </a:t>
            </a:r>
            <a:r>
              <a:rPr lang="en-US" sz="2000" i="1" dirty="0"/>
              <a:t>how</a:t>
            </a:r>
            <a:r>
              <a:rPr lang="en-US" sz="2000" dirty="0"/>
              <a:t> to see; it just had to learn </a:t>
            </a:r>
            <a:r>
              <a:rPr lang="en-US" sz="2000" i="1" dirty="0"/>
              <a:t>what</a:t>
            </a:r>
            <a:r>
              <a:rPr lang="en-US" sz="2000" dirty="0"/>
              <a:t> to look for (yellow vs. green).</a:t>
            </a:r>
          </a:p>
          <a:p>
            <a:pPr marL="0" indent="0">
              <a:buNone/>
            </a:pPr>
            <a:r>
              <a:rPr lang="en-US" sz="2000" b="1" dirty="0"/>
              <a:t>Result:</a:t>
            </a:r>
            <a:r>
              <a:rPr lang="en-US" sz="2000" dirty="0"/>
              <a:t> It reached </a:t>
            </a:r>
            <a:r>
              <a:rPr lang="en-US" sz="2000" b="1" dirty="0"/>
              <a:t>100% accuracy</a:t>
            </a:r>
            <a:r>
              <a:rPr lang="en-US" sz="2000" dirty="0"/>
              <a:t> and </a:t>
            </a:r>
            <a:r>
              <a:rPr lang="en-US" sz="2000" b="1" dirty="0"/>
              <a:t>0.05 loss</a:t>
            </a:r>
            <a:r>
              <a:rPr lang="en-US" sz="2000" dirty="0"/>
              <a:t>, a level of perfection that our custom models (stuck at ~95%) likely could never reach without massive data augmentation.</a:t>
            </a:r>
          </a:p>
        </p:txBody>
      </p:sp>
    </p:spTree>
    <p:extLst>
      <p:ext uri="{BB962C8B-B14F-4D97-AF65-F5344CB8AC3E}">
        <p14:creationId xmlns:p14="http://schemas.microsoft.com/office/powerpoint/2010/main" val="2987205323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593CE9B-168C-AF3B-FBDC-EFA3C7C0125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2">
            <a:extLst>
              <a:ext uri="{FF2B5EF4-FFF2-40B4-BE49-F238E27FC236}">
                <a16:creationId xmlns:a16="http://schemas.microsoft.com/office/drawing/2014/main" id="{B6D66CB8-662C-AAC5-AAC7-D9DA0D5ACE87}"/>
              </a:ext>
            </a:extLst>
          </p:cNvPr>
          <p:cNvSpPr txBox="1">
            <a:spLocks noChangeArrowheads="1"/>
          </p:cNvSpPr>
          <p:nvPr/>
        </p:nvSpPr>
        <p:spPr bwMode="auto">
          <a:xfrm>
            <a:off x="920791" y="1451883"/>
            <a:ext cx="10515600" cy="4251960"/>
          </a:xfrm>
          <a:prstGeom prst="rect">
            <a:avLst/>
          </a:prstGeom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lIns="91440" tIns="0" rIns="91440" bIns="45720" numCol="1" rtlCol="0" anchorCtr="0" compatLnSpc="1">
            <a:prstTxWarp prst="textNoShape">
              <a:avLst/>
            </a:prstTxWarp>
            <a:normAutofit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sz="2000" b="1" dirty="0"/>
              <a:t>4. What would you do differently with more time or data?</a:t>
            </a:r>
          </a:p>
          <a:p>
            <a:r>
              <a:rPr lang="en-US" sz="2000" b="1" dirty="0"/>
              <a:t>Hyperparameter Tuning:</a:t>
            </a:r>
            <a:endParaRPr lang="en-US" sz="2000" dirty="0"/>
          </a:p>
          <a:p>
            <a:pPr lvl="1"/>
            <a:r>
              <a:rPr lang="en-US" sz="2000" b="1" dirty="0"/>
              <a:t>Plan:</a:t>
            </a:r>
            <a:r>
              <a:rPr lang="en-US" sz="2000" dirty="0"/>
              <a:t> We used standard values (Dropout=0.5, LR=1e-3). A </a:t>
            </a:r>
            <a:r>
              <a:rPr lang="en-US" sz="2000" b="1" dirty="0"/>
              <a:t>Grid Search</a:t>
            </a:r>
            <a:r>
              <a:rPr lang="en-US" sz="2000" dirty="0"/>
              <a:t> (testing Dropout=0.3 vs 0.5, LR=1e-4 vs 1e-3) could squeeze out the final 1-2% of performance from the custom models.</a:t>
            </a:r>
          </a:p>
          <a:p>
            <a:r>
              <a:rPr lang="en-US" sz="2000" b="1" dirty="0"/>
              <a:t>Early Stopping:</a:t>
            </a:r>
            <a:endParaRPr lang="en-US" sz="2000" dirty="0"/>
          </a:p>
          <a:p>
            <a:pPr lvl="1"/>
            <a:r>
              <a:rPr lang="en-US" sz="2000" b="1" dirty="0"/>
              <a:t>Plan:</a:t>
            </a:r>
            <a:r>
              <a:rPr lang="en-US" sz="2000" dirty="0"/>
              <a:t> instead of training for fixed 10 epochs, we would implement </a:t>
            </a:r>
            <a:r>
              <a:rPr lang="en-US" sz="2000" b="1" dirty="0"/>
              <a:t>Automatic Early Stopping</a:t>
            </a:r>
            <a:r>
              <a:rPr lang="en-US" sz="2000" dirty="0"/>
              <a:t> to save the model exactly when validation loss peaks (e.g., Epoch 6 for </a:t>
            </a:r>
            <a:r>
              <a:rPr lang="en-US" sz="2000" dirty="0" err="1"/>
              <a:t>DeepCNN</a:t>
            </a:r>
            <a:r>
              <a:rPr lang="en-US" sz="2000" dirty="0"/>
              <a:t>), preventing the overfitting we saw in later epochs.</a:t>
            </a:r>
          </a:p>
        </p:txBody>
      </p:sp>
    </p:spTree>
    <p:extLst>
      <p:ext uri="{BB962C8B-B14F-4D97-AF65-F5344CB8AC3E}">
        <p14:creationId xmlns:p14="http://schemas.microsoft.com/office/powerpoint/2010/main" val="307890656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8750</TotalTime>
  <Words>1686</Words>
  <Application>Microsoft Office PowerPoint</Application>
  <PresentationFormat>Widescreen</PresentationFormat>
  <Paragraphs>112</Paragraphs>
  <Slides>19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19</vt:i4>
      </vt:variant>
    </vt:vector>
  </HeadingPairs>
  <TitlesOfParts>
    <vt:vector size="24" baseType="lpstr">
      <vt:lpstr>Aptos</vt:lpstr>
      <vt:lpstr>Aptos Display</vt:lpstr>
      <vt:lpstr>Arial</vt:lpstr>
      <vt:lpstr>Google Sans Text</vt:lpstr>
      <vt:lpstr>Office Theme</vt:lpstr>
      <vt:lpstr> Final Project - Introduction to Deep Learning</vt:lpstr>
      <vt:lpstr>Problem &amp; Dataset</vt:lpstr>
      <vt:lpstr>Part 1 — Training a CNN from Scratch</vt:lpstr>
      <vt:lpstr>Experiment 1 - SmallCNN + Adam</vt:lpstr>
      <vt:lpstr>Experiment 2 - DeepCNN + Adam</vt:lpstr>
      <vt:lpstr>Experiment 3 - DeepCNN + SGD (momentum)</vt:lpstr>
      <vt:lpstr>Experiment 4 - Hyperparameter Tuning (Learning Rate)</vt:lpstr>
      <vt:lpstr>Experiment 5 - Hyperparameter Tuning (Batch Size) </vt:lpstr>
      <vt:lpstr>Experiment - DeepCNN + Adam + Batch Normalization</vt:lpstr>
      <vt:lpstr>Experiment R1: Dropout</vt:lpstr>
      <vt:lpstr>Experiment R2: Weight Decay (L2 Regularization)</vt:lpstr>
      <vt:lpstr>Experiment R3: Data augmentation</vt:lpstr>
      <vt:lpstr>Step 5 — Pretrain on CIFAR-10 and Fine-Tuning on your dataset </vt:lpstr>
      <vt:lpstr>Step 6 — Adapting a Pretrained Model </vt:lpstr>
      <vt:lpstr>Step 7 — Training and Fine-Tuning</vt:lpstr>
      <vt:lpstr>Final Reflection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KHALEPARI Shiraz</dc:creator>
  <cp:lastModifiedBy>KHALEPARI Shiraz</cp:lastModifiedBy>
  <cp:revision>16</cp:revision>
  <dcterms:created xsi:type="dcterms:W3CDTF">2026-02-09T11:25:56Z</dcterms:created>
  <dcterms:modified xsi:type="dcterms:W3CDTF">2026-02-19T17:35:39Z</dcterms:modified>
</cp:coreProperties>
</file>
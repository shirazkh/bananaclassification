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6" r:id="rId2"/>
    <p:sldId id="281" r:id="rId3"/>
    <p:sldId id="257" r:id="rId4"/>
    <p:sldId id="256" r:id="rId5"/>
    <p:sldId id="258" r:id="rId6"/>
    <p:sldId id="259" r:id="rId7"/>
    <p:sldId id="260" r:id="rId8"/>
    <p:sldId id="261" r:id="rId9"/>
    <p:sldId id="264" r:id="rId10"/>
    <p:sldId id="265" r:id="rId11"/>
    <p:sldId id="267" r:id="rId12"/>
    <p:sldId id="282" r:id="rId13"/>
    <p:sldId id="270" r:id="rId14"/>
    <p:sldId id="271" r:id="rId15"/>
    <p:sldId id="272" r:id="rId16"/>
    <p:sldId id="275" r:id="rId17"/>
    <p:sldId id="278" r:id="rId18"/>
    <p:sldId id="279" r:id="rId19"/>
    <p:sldId id="28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5176" autoAdjust="0"/>
    <p:restoredTop sz="94660"/>
  </p:normalViewPr>
  <p:slideViewPr>
    <p:cSldViewPr snapToGrid="0">
      <p:cViewPr>
        <p:scale>
          <a:sx n="75" d="100"/>
          <a:sy n="75" d="100"/>
        </p:scale>
        <p:origin x="27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EA8BE-BAB1-4496-9589-320BA365F656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F26B8-6D6D-4E0F-9425-97F06458E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6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F26B8-6D6D-4E0F-9425-97F06458E8D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9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B40AB-A617-344D-753D-F90CB32FB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F24D0-90CB-A807-6F02-C590921DE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40895-F32C-009B-2BE9-ABAB23D3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1942-572B-468B-8583-3B9684FFEC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5E0A0-8B92-4A63-650B-7841EF549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E7C70-AE73-39C4-6415-3B0B2D397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337D-547B-4899-A744-019D1889B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3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CFF64-7286-2913-4D84-5F1F2C51E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5E751-1824-40BD-720A-3F65F8825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CFC9E-DC25-6EF2-8C90-66729660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1942-572B-468B-8583-3B9684FFEC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A5749-624B-AD37-41CB-103AB8F01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AE8B9-E38A-B516-2A17-A82AB061B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337D-547B-4899-A744-019D1889B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46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3C945-1A59-2807-BC40-EC880CCD6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C2775-F15E-DFBD-DD7A-F8E9D73DE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2B0DE-52AC-FCE4-C548-7655BC160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1942-572B-468B-8583-3B9684FFEC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AC398-BCC8-E713-E241-B5FECE7BB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72840-7DA7-8CE0-9720-EEDC941D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337D-547B-4899-A744-019D1889B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7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D0FE8-8FBA-9850-2297-446728F9D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1641F-1842-E023-3209-CFC163EAD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4E630-71A8-7191-26A5-C721E30D3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E8112-E8CA-2FC1-ABE1-72C2A539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1942-572B-468B-8583-3B9684FFEC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7E509-006F-D4F8-0B24-B7656FA06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20D24-5759-037C-5FC6-51CB0C6E5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337D-547B-4899-A744-019D1889B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37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9FC67-5666-3E64-D19E-A5FC5D86B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E1CE6-F234-6BE3-95C1-0FA5753CA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1A435-344A-BF72-0070-F1B6EBF52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EE2143-50AB-BC3B-7545-E25D615D3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2845C6-FA69-B2D4-EFB4-76E6DABC5E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95902D-565E-8D86-6B58-0A63FC9C0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1942-572B-468B-8583-3B9684FFEC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216F3A-1AA8-FF65-9D10-E64B8E5B7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5D1C8F-E16C-9F55-C132-2095AA55B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337D-547B-4899-A744-019D1889B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18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91D0-68D2-F235-E41A-727B589F1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138E2-383F-9A82-0358-4FCE13CF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1942-572B-468B-8583-3B9684FFEC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2BC511-4C16-7780-2354-9A7A26B31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638FD-31F7-DADC-9D69-726E46AD5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337D-547B-4899-A744-019D1889B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9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2FA3B7-6D74-AEC3-0FCB-EF7C4CC4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1942-572B-468B-8583-3B9684FFEC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9949BD-AB2D-B8B8-0528-E99D6A55C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B4A79-0D86-FC3F-601C-3E4C919DA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337D-547B-4899-A744-019D1889B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77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5F6E-E8B6-318D-2850-A938C2695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A7933-C1D7-78B1-E358-68B0C01E7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68295-F16F-6D79-2A21-8365DF3C0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AB661-04CA-C07E-9645-86F81228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1942-572B-468B-8583-3B9684FFEC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E2AA6-CC28-7337-01F8-143C051D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47954-26B8-245A-0AF2-37543F3A4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337D-547B-4899-A744-019D1889B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88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FB342-069F-7A8F-224F-6A24F63A5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2D5738-2B66-1151-A25C-7DAC4A38BB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661AE-AF64-FECD-D87E-9A0E436A8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FEEF4-457A-EAA5-B8DA-7D0B5665F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1942-572B-468B-8583-3B9684FFEC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8F897-9455-6AEA-63A8-36986BEB5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C3133-4564-0F9A-0D17-6E35CF724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337D-547B-4899-A744-019D1889B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74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BC00-513C-04C1-D929-736C1F51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8C75C-2A19-B923-D578-2E5E3C4AD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4936C-C0EC-6B27-7383-F5E3F83E1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1942-572B-468B-8583-3B9684FFEC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4B491-BD46-2A32-8C7F-9D8828ECB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1B04C-6E29-B63D-746E-6560578E3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337D-547B-4899-A744-019D1889B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8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CED217-7BE5-B486-AFDB-E83E74E8E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84DFFB-CD31-6CD9-0BD0-3A9EE8854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03C8E-5C43-A253-3EE9-9AADED38E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1942-572B-468B-8583-3B9684FFEC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D7382-47E3-A204-D2FB-86B965877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7E199-D2BD-1AB8-16AB-D1BD87DAE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337D-547B-4899-A744-019D1889B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38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116173-5D9B-0F46-2AA1-6A8F02A20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0D288-7F28-C62D-2DE2-58D9AAF1A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8B71-41EE-D3AC-8C71-7AD2AE53AD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31942-572B-468B-8583-3B9684FFEC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3FE5B-7A50-5E10-DEFD-7FD8F3DC5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20F7F-61A5-050A-D52A-108EAF987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F8337D-547B-4899-A744-019D1889B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9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A7A0C7-A824-44E6-6F87-15720A946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030" y="1209220"/>
            <a:ext cx="9147940" cy="2337238"/>
          </a:xfrm>
        </p:spPr>
        <p:txBody>
          <a:bodyPr anchor="b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 Final Project - Introduction to Deep Learning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A85F1B2-BA8E-3FF5-1F18-AA0F3944D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030" y="3605577"/>
            <a:ext cx="9147940" cy="1324303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Noa </a:t>
            </a:r>
            <a:r>
              <a:rPr lang="en-US" sz="2000" dirty="0" err="1">
                <a:solidFill>
                  <a:srgbClr val="FFFFFF"/>
                </a:solidFill>
              </a:rPr>
              <a:t>Halali</a:t>
            </a:r>
            <a:r>
              <a:rPr lang="en-US" sz="2000" dirty="0">
                <a:solidFill>
                  <a:srgbClr val="FFFFFF"/>
                </a:solidFill>
              </a:rPr>
              <a:t> &amp; Shiraz </a:t>
            </a:r>
            <a:r>
              <a:rPr lang="en-US" sz="2000" dirty="0" err="1">
                <a:solidFill>
                  <a:srgbClr val="FFFFFF"/>
                </a:solidFill>
              </a:rPr>
              <a:t>Khalepari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5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994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80E28A9-605D-246B-FD16-7C463A6E4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&amp; Dataset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470815B-6A85-F5AC-9F89-2C1D7D38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Task:</a:t>
            </a:r>
            <a:r>
              <a:rPr lang="en-US" dirty="0"/>
              <a:t> Image classification on a custom dataset (same as Exercise 1).</a:t>
            </a:r>
          </a:p>
          <a:p>
            <a:r>
              <a:rPr lang="en-US" b="1" dirty="0"/>
              <a:t>Dataset:</a:t>
            </a:r>
            <a:r>
              <a:rPr lang="en-US" dirty="0"/>
              <a:t> ~1,000 images, split into train/validation sets.</a:t>
            </a:r>
          </a:p>
          <a:p>
            <a:r>
              <a:rPr lang="en-US" b="1" dirty="0"/>
              <a:t>Preprocessing:</a:t>
            </a:r>
            <a:r>
              <a:rPr lang="en-US" dirty="0"/>
              <a:t> Resize to 224×224 and ImageNet normalization.</a:t>
            </a:r>
          </a:p>
          <a:p>
            <a:r>
              <a:rPr lang="en-US" b="1" dirty="0"/>
              <a:t>Main challenge:</a:t>
            </a:r>
            <a:r>
              <a:rPr lang="en-US" dirty="0"/>
              <a:t> Small dataset → high overfitting risk → need regularization and transfer learning.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89213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E40E2-3ABA-1BB0-370F-0D7ECC6D6B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 1 — Training a CNN from Scratch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0D1ED-8BE2-EBA5-A6E8-79387A35F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Step 1 — Architecture &amp; Optimization</a:t>
            </a:r>
          </a:p>
        </p:txBody>
      </p:sp>
    </p:spTree>
    <p:extLst>
      <p:ext uri="{BB962C8B-B14F-4D97-AF65-F5344CB8AC3E}">
        <p14:creationId xmlns:p14="http://schemas.microsoft.com/office/powerpoint/2010/main" val="1476105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7ED512-BDD4-51D5-E58E-269EB62A3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000" b="1"/>
              <a:t>Experiment 1 - SmallCNN + Adam</a:t>
            </a:r>
            <a:endParaRPr lang="en-US" sz="3000"/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52DDA0-74EC-3832-15A0-FF546C241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 fontScale="77500" lnSpcReduction="20000"/>
          </a:bodyPr>
          <a:lstStyle/>
          <a:p>
            <a:r>
              <a:rPr lang="en-US" altLang="en-US" sz="2000" b="1" dirty="0">
                <a:latin typeface="Arial" panose="020B0604020202020204" pitchFamily="34" charset="0"/>
              </a:rPr>
              <a:t>Result: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sz="2100" dirty="0"/>
              <a:t>Validation accuracy exceeds 80%, indicating successful learning</a:t>
            </a:r>
            <a:r>
              <a:rPr lang="en-US" dirty="0"/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Observation:</a:t>
            </a:r>
            <a:r>
              <a:rPr lang="en-US" altLang="en-US" sz="2000" dirty="0">
                <a:latin typeface="Arial" panose="020B0604020202020204" pitchFamily="34" charset="0"/>
              </a:rPr>
              <a:t> Performance stalled after Epoch 8, with a widening gap between training and validation metrics (Overfitting).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Conclusion: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sz="2300" dirty="0"/>
              <a:t>The </a:t>
            </a:r>
            <a:r>
              <a:rPr lang="en-US" sz="2300" dirty="0" err="1"/>
              <a:t>SmallCNN</a:t>
            </a:r>
            <a:r>
              <a:rPr lang="en-US" sz="2300" dirty="0"/>
              <a:t> provides a strong and stable baseline for this dataset, motivating a comparison with a deeper architecture to study the effect of increased model capacity.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8A5D4C-4D1B-3B1D-E468-0BAF32BCF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468880"/>
            <a:ext cx="10796123" cy="354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3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24F50-44B9-3223-89BC-45330D17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E5BA6A-51DF-A64D-A3B2-45ECC23FF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000" b="1"/>
              <a:t>Experiment 2 - DeepCNN + Adam</a:t>
            </a:r>
            <a:endParaRPr lang="en-US" sz="300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B46328-DC7D-EC94-3989-B84069402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0519" y="276225"/>
            <a:ext cx="7318393" cy="2649856"/>
          </a:xfrm>
        </p:spPr>
        <p:txBody>
          <a:bodyPr anchor="ctr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Result: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Achieved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~87.5% Peak Validation Accuracy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slightly improving on the baseline.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Observation: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Training is significantly slower per epoch compared to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SmallCNN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reflecting the higher computational cost of the deeper architecture.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Peak validation accuracy is similar to that of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SmallCNN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but the training process is less stable, with notable drops in validation performance during early epochs.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Training accuracy consistently exceeds validation accuracy, suggesting increased susceptibility to overfitting.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Increasing model depth does not immediately improve validation performance on this dataset and introduces training instability, motivating further investigation into optimization strategies.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6307E2-50C4-50F7-250C-400057325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97" y="2991204"/>
            <a:ext cx="10384605" cy="347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31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56951-7001-C8C7-1487-72D0CFBEA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370F5E-1942-1AC2-5720-685E74899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nl-NL" sz="3000" b="1"/>
              <a:t>Experiment 3 - DeepCNN + SGD (momentum)</a:t>
            </a:r>
            <a:endParaRPr lang="nl-NL" sz="30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31AD89-B5AA-1A5B-7965-D06358778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000" b="1" dirty="0">
                <a:latin typeface="Arial" panose="020B0604020202020204" pitchFamily="34" charset="0"/>
              </a:rPr>
              <a:t>Result:</a:t>
            </a:r>
            <a:r>
              <a:rPr lang="en-US" altLang="en-US" sz="1000" dirty="0">
                <a:latin typeface="Arial" panose="020B0604020202020204" pitchFamily="34" charset="0"/>
              </a:rPr>
              <a:t> Reached </a:t>
            </a:r>
            <a:r>
              <a:rPr lang="en-US" altLang="en-US" sz="1000" b="1" dirty="0">
                <a:latin typeface="Arial" panose="020B0604020202020204" pitchFamily="34" charset="0"/>
              </a:rPr>
              <a:t>~79.7% </a:t>
            </a:r>
            <a:r>
              <a:rPr lang="en-US" altLang="en-US" sz="1000" b="1" dirty="0" err="1">
                <a:latin typeface="Arial" panose="020B0604020202020204" pitchFamily="34" charset="0"/>
              </a:rPr>
              <a:t>val</a:t>
            </a:r>
            <a:r>
              <a:rPr lang="en-US" altLang="en-US" sz="1000" b="1" dirty="0">
                <a:latin typeface="Arial" panose="020B0604020202020204" pitchFamily="34" charset="0"/>
              </a:rPr>
              <a:t> Accuracy</a:t>
            </a:r>
            <a:r>
              <a:rPr lang="en-US" altLang="en-US" sz="1000" dirty="0">
                <a:latin typeface="Arial" panose="020B0604020202020204" pitchFamily="34" charset="0"/>
              </a:rPr>
              <a:t>, but required the full 9 epochs to get there.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000" b="1" dirty="0">
                <a:latin typeface="Arial" panose="020B0604020202020204" pitchFamily="34" charset="0"/>
              </a:rPr>
              <a:t>Observation:</a:t>
            </a:r>
            <a:r>
              <a:rPr lang="en-US" altLang="en-US" sz="1000" dirty="0">
                <a:latin typeface="Arial" panose="020B0604020202020204" pitchFamily="34" charset="0"/>
              </a:rPr>
              <a:t> Although high validation accuracy is occasionally reached, it is not maintained consistently.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000" b="1" dirty="0">
                <a:latin typeface="Arial" panose="020B0604020202020204" pitchFamily="34" charset="0"/>
              </a:rPr>
              <a:t>Comparison:</a:t>
            </a:r>
            <a:r>
              <a:rPr lang="en-US" altLang="en-US" sz="1000" dirty="0">
                <a:latin typeface="Arial" panose="020B0604020202020204" pitchFamily="34" charset="0"/>
              </a:rPr>
              <a:t> Training converges significantly more slowly compared to Adam.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000" b="1" dirty="0">
                <a:latin typeface="Arial" panose="020B0604020202020204" pitchFamily="34" charset="0"/>
              </a:rPr>
              <a:t>Conclusion:</a:t>
            </a:r>
            <a:r>
              <a:rPr lang="en-US" altLang="en-US" sz="1000" dirty="0">
                <a:latin typeface="Arial" panose="020B0604020202020204" pitchFamily="34" charset="0"/>
              </a:rPr>
              <a:t> </a:t>
            </a:r>
            <a:r>
              <a:rPr lang="en-US" altLang="en-US" sz="1000" b="1" dirty="0">
                <a:latin typeface="Arial" panose="020B0604020202020204" pitchFamily="34" charset="0"/>
              </a:rPr>
              <a:t>Adam</a:t>
            </a:r>
            <a:r>
              <a:rPr lang="en-US" altLang="en-US" sz="1000" dirty="0">
                <a:latin typeface="Arial" panose="020B0604020202020204" pitchFamily="34" charset="0"/>
              </a:rPr>
              <a:t> is the superior optimizer for this task, offering faster convergence and better immediate stability.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48D527-448E-1DD9-CD4C-F5F352598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08" y="2514600"/>
            <a:ext cx="11093163" cy="376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739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D8BA4-899A-9E17-721B-3FD3DDF73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7746FF-B680-AF19-46E7-6A28102E1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2600" b="1"/>
              <a:t>Experiment 4 - Hyperparameter Tuning (Learning Rate)</a:t>
            </a:r>
            <a:endParaRPr lang="en-US" sz="260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C81D6C-8CBE-A43D-B5D7-6C27D38D2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19"/>
            <a:ext cx="6894576" cy="1711643"/>
          </a:xfrm>
        </p:spPr>
        <p:txBody>
          <a:bodyPr anchor="ctr">
            <a:normAutofit fontScale="62500" lnSpcReduction="2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Result: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Achieved ~85.9% Peak Accuracy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Observations: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- Reducing the learning rate resulted in slower but more stable convergence. Training loss decreased smoothly across epochs, and training accuracy improved steadily.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- Validation performance also improved gradually, with reduced fluctuations compared to the higher learning rate setting.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- the final validation accuracy was lower than that achieved with the baseline learning rate, and more epochs were required to reach peak performance.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Takeaway: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While a lower learning rate improved training stability, it also slowed convergence and limited the final validation performance.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For this dataset and architecture, a learning rate of 1e-3 provided a better trade-off between convergence speed and validation accuracy and was therefore selected for subsequent experiments.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B664E9-7F58-CBC4-EA46-B762153DC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22" y="2468880"/>
            <a:ext cx="11177449" cy="377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218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625B7A-330E-043B-171F-78D36D222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18D4B8-145E-3BC4-02EA-541EAF429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2300" b="1" dirty="0"/>
              <a:t>Experiment 5 - Hyperparameter Tuning (Batch Size)</a:t>
            </a:r>
            <a:br>
              <a:rPr lang="en-US" sz="2300" dirty="0"/>
            </a:br>
            <a:endParaRPr lang="en-US" sz="2300" dirty="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46A3D7-683C-0409-C19C-A1C5E7797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 fontScale="92500" lnSpcReduction="2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Result: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Achieved ~72.9% Peak Accuracy.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lang="en-US" sz="1200" b="1" dirty="0"/>
              <a:t>Observation: </a:t>
            </a:r>
            <a:r>
              <a:rPr lang="en-US" sz="1200" dirty="0"/>
              <a:t>Training progressed more slowly in the early epochs, with lower training accuracy compared to the baseline setting. Validation performance improved gradually but remained noticeably lower overall.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200" b="1" dirty="0"/>
              <a:t>Takeaway</a:t>
            </a:r>
            <a:r>
              <a:rPr lang="en-US" sz="1200" dirty="0"/>
              <a:t>: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200" dirty="0"/>
              <a:t>- Increasing the batch size to 64 reduced the overall validation performance and slowed convergence for this dataset.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200" dirty="0"/>
              <a:t>- For </a:t>
            </a:r>
            <a:r>
              <a:rPr lang="en-US" sz="1200" dirty="0" err="1"/>
              <a:t>DeepCNN</a:t>
            </a:r>
            <a:r>
              <a:rPr lang="en-US" sz="1200" dirty="0"/>
              <a:t> + Adam with this dataset size, batch size 32 appears to provide a better trade-off between convergence speed and validation accuracy.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D433EE-5531-FE1F-76BF-2EFFDE139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57" y="2231582"/>
            <a:ext cx="11329285" cy="391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964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95711A-DC93-6589-5D1C-B35B96528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C4DDD6-74A8-5E65-FCB1-5797B96BF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23" y="1214658"/>
            <a:ext cx="3419856" cy="751302"/>
          </a:xfrm>
        </p:spPr>
        <p:txBody>
          <a:bodyPr anchor="ctr">
            <a:normAutofit/>
          </a:bodyPr>
          <a:lstStyle/>
          <a:p>
            <a:r>
              <a:rPr lang="en-US" sz="1800" dirty="0"/>
              <a:t>Experiment - </a:t>
            </a:r>
            <a:r>
              <a:rPr lang="en-US" sz="1800" dirty="0" err="1"/>
              <a:t>DeepCNN</a:t>
            </a:r>
            <a:r>
              <a:rPr lang="en-US" sz="1800" dirty="0"/>
              <a:t> + Adam + Batch Normalization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1196DB-FEC3-C292-AF6A-5D57E4CEE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Result: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Achieved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~92.2% Peak Accuracy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, significantly beating the baseline.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Problem: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Extreme Instability.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The loss curve is "jagged" and unpredictable (e.g., Val Loss jumps from 2.4 to 5.0).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Key Insight: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Deep networks with Batch Norm learn fast but are prone to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high variance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. They need a "brake" (Regularization) to stop them from memorizing noise.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911ED-7E5C-BC2B-CC4F-63AF3F0234B5}"/>
              </a:ext>
            </a:extLst>
          </p:cNvPr>
          <p:cNvSpPr txBox="1">
            <a:spLocks/>
          </p:cNvSpPr>
          <p:nvPr/>
        </p:nvSpPr>
        <p:spPr>
          <a:xfrm>
            <a:off x="708992" y="487016"/>
            <a:ext cx="3625263" cy="75130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Step 2 — Add Batch Normalization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316746-4B60-8899-8B9A-06BB87BF4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40" y="2526394"/>
            <a:ext cx="11168119" cy="377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00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DF040-1D95-B96D-8D94-0EFEE7586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4B3E89-D21B-49BE-879B-58E25DF84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23" y="1345903"/>
            <a:ext cx="3419856" cy="524126"/>
          </a:xfrm>
        </p:spPr>
        <p:txBody>
          <a:bodyPr anchor="ctr">
            <a:normAutofit/>
          </a:bodyPr>
          <a:lstStyle/>
          <a:p>
            <a:r>
              <a:rPr lang="en-US" sz="2000" dirty="0"/>
              <a:t>Experiment R1: Dropout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2EB6E6-439B-5E5F-3E12-FA33D0E33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Result: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Achieved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~95.3% Peak Accuracy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the winner of the "Training from Scratch" phase.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Fix: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Randomly disabling neurons (Dropout) forced the network to learn redundant, robust features.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Observation: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Excellent generalization. The model performed almost as well on unseen data as it did on training data (Train 96% vs Val 95%).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"Hiccup":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spike at Epoch 7 shows that even with regularization, deep learning can be volatile.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FB0DF-99DE-082D-87DD-84A2F3588931}"/>
              </a:ext>
            </a:extLst>
          </p:cNvPr>
          <p:cNvSpPr txBox="1">
            <a:spLocks/>
          </p:cNvSpPr>
          <p:nvPr/>
        </p:nvSpPr>
        <p:spPr>
          <a:xfrm>
            <a:off x="727280" y="609365"/>
            <a:ext cx="3606975" cy="75130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Step 3 — Add Regularization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98716A-A66C-035B-799F-52B13D9FA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33" y="2247577"/>
            <a:ext cx="11698333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12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84C41-C499-84BB-0950-05B2AD43C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E42CEF-526E-5B32-B810-461CEBC15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Experiment R2: Weight Decay (L2 Regularization)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6542C1-B15A-E31F-FBA5-407A37E63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Result: </a:t>
            </a:r>
            <a:r>
              <a:rPr lang="en-US" sz="1000" dirty="0"/>
              <a:t>Achieved ~79.7% Peak Accuracy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Comparison: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Worse than Dropout.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0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Dropout: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~95% Acc (Strong Generalization)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0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Weight Decay: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~80% Acc (Moderate Generalization)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Dynamics: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model fought against the penalty early on (instability in Epoch 1-3) before settling.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Takeaway: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this small dataset, randomly dropping neurons (Dropout) is more effective than penalizing large weights (L2).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9F14A1-724C-E4DA-239C-B4B9D81A8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47" y="2585683"/>
            <a:ext cx="10861199" cy="365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05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7DD34-FDA3-D87C-1387-B247F92E8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453C9C0-82A8-A74E-A470-2394840F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6E0678-A472-837D-C6CE-CD27988F5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731" y="502920"/>
            <a:ext cx="3845523" cy="1463040"/>
          </a:xfrm>
        </p:spPr>
        <p:txBody>
          <a:bodyPr anchor="ctr">
            <a:normAutofit/>
          </a:bodyPr>
          <a:lstStyle/>
          <a:p>
            <a:r>
              <a:rPr lang="en-US" sz="2000"/>
              <a:t>Experiment R3: Data augmentation</a:t>
            </a:r>
            <a:endParaRPr lang="en-US" sz="2000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FBB1CB89-0755-E133-D445-24FC9F620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A1658B-08F2-6356-2B8B-C1A310298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b="1">
                <a:latin typeface="Arial" panose="020B0604020202020204" pitchFamily="34" charset="0"/>
              </a:rPr>
              <a:t>The Idea:</a:t>
            </a:r>
            <a:r>
              <a:rPr lang="en-US" altLang="en-US" sz="1000">
                <a:latin typeface="Arial" panose="020B0604020202020204" pitchFamily="34" charset="0"/>
              </a:rPr>
              <a:t> We artificially expanded our small dataset by randomly rotating, flipping, and adjusting the brightness of images during training.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b="1">
                <a:latin typeface="Arial" panose="020B0604020202020204" pitchFamily="34" charset="0"/>
              </a:rPr>
              <a:t>The Result:</a:t>
            </a:r>
            <a:r>
              <a:rPr lang="en-US" altLang="en-US" sz="1000">
                <a:latin typeface="Arial" panose="020B0604020202020204" pitchFamily="34" charset="0"/>
              </a:rPr>
              <a:t> Training became "harder" (accuracy rose slower), but the final model was much more robust.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b="1">
                <a:latin typeface="Arial" panose="020B0604020202020204" pitchFamily="34" charset="0"/>
              </a:rPr>
              <a:t>Key Metric:</a:t>
            </a:r>
            <a:r>
              <a:rPr lang="en-US" altLang="en-US" sz="1000">
                <a:latin typeface="Arial" panose="020B0604020202020204" pitchFamily="34" charset="0"/>
              </a:rPr>
              <a:t> Reduced the </a:t>
            </a:r>
            <a:r>
              <a:rPr lang="en-US" altLang="en-US" sz="1000" b="1">
                <a:latin typeface="Arial" panose="020B0604020202020204" pitchFamily="34" charset="0"/>
              </a:rPr>
              <a:t>Generalization Gap</a:t>
            </a:r>
            <a:r>
              <a:rPr lang="en-US" altLang="en-US" sz="1000">
                <a:latin typeface="Arial" panose="020B0604020202020204" pitchFamily="34" charset="0"/>
              </a:rPr>
              <a:t>. The model stopped memorizing the exact position of the banana and started learning the </a:t>
            </a:r>
            <a:r>
              <a:rPr lang="en-US" altLang="en-US" sz="1000" i="1">
                <a:latin typeface="Arial" panose="020B0604020202020204" pitchFamily="34" charset="0"/>
              </a:rPr>
              <a:t>features</a:t>
            </a:r>
            <a:r>
              <a:rPr lang="en-US" altLang="en-US" sz="1000">
                <a:latin typeface="Arial" panose="020B0604020202020204" pitchFamily="34" charset="0"/>
              </a:rPr>
              <a:t> of the banana.</a:t>
            </a:r>
            <a:endParaRPr lang="en-US" altLang="en-US" sz="1000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0304F5-A190-B396-3174-9543F319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49" y="2514600"/>
            <a:ext cx="10806361" cy="364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388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748B22-1A21-FFD2-78CD-A52DDD22E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F09716C-86C6-2CA0-8B84-C7228B273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8EA450-54A3-1E9E-C805-F8DBDD768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1560940"/>
            <a:ext cx="3491532" cy="605294"/>
          </a:xfrm>
        </p:spPr>
        <p:txBody>
          <a:bodyPr anchor="ctr">
            <a:noAutofit/>
          </a:bodyPr>
          <a:lstStyle/>
          <a:p>
            <a:r>
              <a:rPr lang="en-US" sz="1800" dirty="0"/>
              <a:t>Step 5 — Pretrain on CIFAR-10 and Fine-Tuning on your dataset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BA70AFB-E84D-4CEE-A924-919BD9B22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12A7EA-BF22-7581-AF61-DB0D8EA54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~92.2% Accuracy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Experienced initial "Transfer Shock" (Epoch 1-2) while adapting to the new classes, followed by rapid convergence.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 worked: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model didn't have to learn "how to see edges" from scratch—it only had to learn "which edges make a banana."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From Scratch: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~84% Acc (Unstable).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Pretrained: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~92% Acc (Stable).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2403B2A-607B-ECD7-490F-25DB4BD082C5}"/>
              </a:ext>
            </a:extLst>
          </p:cNvPr>
          <p:cNvSpPr txBox="1">
            <a:spLocks/>
          </p:cNvSpPr>
          <p:nvPr/>
        </p:nvSpPr>
        <p:spPr>
          <a:xfrm>
            <a:off x="630936" y="609365"/>
            <a:ext cx="3703319" cy="75130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Part 2 — Transfer 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6E3E3E-BCAA-4346-1778-4149F733F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468881"/>
            <a:ext cx="10833896" cy="355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4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1B8EB0-A113-57E7-DD68-57A3DC20C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7A29268-0C0C-E888-0FC0-7BB1484D5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B10B47-841B-AA55-69CD-81E612074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158" y="1515219"/>
            <a:ext cx="3721607" cy="605294"/>
          </a:xfrm>
        </p:spPr>
        <p:txBody>
          <a:bodyPr anchor="ctr">
            <a:noAutofit/>
          </a:bodyPr>
          <a:lstStyle/>
          <a:p>
            <a:r>
              <a:rPr lang="en-US" sz="1800" dirty="0"/>
              <a:t>Step 6 — Adapting a Pretrained Model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A34F718F-6FA1-FC49-080C-3BFA5B0E6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2EE676-B87F-C886-CD47-033F34B82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100% Peak Accuracy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(Epoch 7).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Difference:	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Custom Models: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~85-95% Acc (Struggled to learn features).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ResNet50: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100% Acc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(Already knew the features).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Reached 95% accuracy in just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epochs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Takeaway: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small datasets like this,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Transfer Learning is not just an option; it is the optimal solution.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A5BE70C-C020-B07B-CF86-4CD1E9E9C302}"/>
              </a:ext>
            </a:extLst>
          </p:cNvPr>
          <p:cNvSpPr txBox="1">
            <a:spLocks/>
          </p:cNvSpPr>
          <p:nvPr/>
        </p:nvSpPr>
        <p:spPr>
          <a:xfrm>
            <a:off x="542446" y="609365"/>
            <a:ext cx="3703319" cy="7513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Part 3 — Transfer learning with ResNet50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2B127C-5E9E-7A1B-809A-EF92D829D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468880"/>
            <a:ext cx="10872511" cy="356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085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FCFA9-D635-5EB2-5D3A-47A1002C5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B1CCFFF-6328-7EC1-33B8-3884BF1E1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6BEA55-1E2B-0BAA-64A7-6EF5979EB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772" y="931793"/>
            <a:ext cx="3721607" cy="605294"/>
          </a:xfrm>
        </p:spPr>
        <p:txBody>
          <a:bodyPr anchor="ctr">
            <a:noAutofit/>
          </a:bodyPr>
          <a:lstStyle/>
          <a:p>
            <a:r>
              <a:rPr lang="en-US" sz="2000" dirty="0"/>
              <a:t>Step 7 — Training and Fine-Tuning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8569AF67-BFD7-00AC-3A4D-8A88CD144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3E330B-B11E-7EE2-3464-B923D56A8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318565"/>
            <a:ext cx="7344993" cy="1763907"/>
          </a:xfrm>
        </p:spPr>
        <p:txBody>
          <a:bodyPr anchor="ctr"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Result: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100% Accuracy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with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0.05 Loss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Strategy: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Unfrozen layers + Low Learning Rate (1e-5).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Why we did it: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increase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Model Confidence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Frozen Model: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"I'm 80% sure this is a ripe banana."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Unfrozen Model: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"I'm 99.9% sure this is a ripe banana."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Visual Proof: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Validation Loss dropped by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~60%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(0.14 to 0.05), proving the model learned the specific nuances of our dataset.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2EB7F1-D3B4-7332-44DB-ACC6A2FE0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15" y="2346759"/>
            <a:ext cx="11337970" cy="35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838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DB3434-9515-D50F-77BE-6136CE00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Final Reflection</a:t>
            </a:r>
            <a:endParaRPr lang="en-US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FF802BC-50C6-8078-9FFC-2A42BB5522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ts val="5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1. What architectural choices mattered most?</a:t>
            </a:r>
          </a:p>
          <a:p>
            <a:pPr eaLnBrk="0" fontAlgn="base" hangingPunct="0">
              <a:spcBef>
                <a:spcPts val="50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Batch Normalization was the "Stabilizer":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Evidence: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In Experiment 2 (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effectLst/>
              </a:rPr>
              <a:t>DeepCNN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without BN), the model was highly volatile and struggled to converge.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Impact: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Adding Batch Normalization (Experiment 5) immediately smoothed the loss curve and allowed the deeper network to train effectively, raising accuracy from ~82% to ~90%.</a:t>
            </a:r>
          </a:p>
          <a:p>
            <a:pPr marL="0" marR="0" lvl="0" indent="0" defTabSz="914400" rtl="0" eaLnBrk="0" fontAlgn="base" latinLnBrk="0" hangingPunct="0">
              <a:spcBef>
                <a:spcPts val="5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Dropout was the "Generalizer":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Evidence: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The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effectLst/>
              </a:rPr>
              <a:t>DeepCNN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with BN alone (Experiment 5) showed signs of overfitting (high variance).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Impact: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Adding Dropout (Experiment 3) successfully closed the generalization gap, bringing the validation accuracy to its peak for custom models (~95%).</a:t>
            </a:r>
          </a:p>
          <a:p>
            <a:pPr marL="0" marR="0" lvl="0" indent="0" defTabSz="914400" rtl="0" eaLnBrk="0" fontAlgn="base" latinLnBrk="0" hangingPunct="0">
              <a:spcBef>
                <a:spcPts val="5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Depth alone is dangerous: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Insight: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Simply adding layers (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effectLst/>
              </a:rPr>
              <a:t>SmallCNN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to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effectLst/>
              </a:rPr>
              <a:t>DeepCNN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) without regularization actually 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effectLst/>
              </a:rPr>
              <a:t>hurt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stability. Depth requires control mechanisms (BN/Dropout) to be effective.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90481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F9FA9BC-A54C-7A54-7146-599AF4CBE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791" y="1451883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rtlCol="0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en-US" sz="2000" b="1"/>
              <a:t>2. Which optimization strategies worked best?</a:t>
            </a:r>
          </a:p>
          <a:p>
            <a:pPr lvl="0">
              <a:defRPr/>
            </a:pPr>
            <a:r>
              <a:rPr lang="en-US" sz="2000" b="1"/>
              <a:t>Adam vs. SGD:</a:t>
            </a:r>
            <a:endParaRPr lang="en-US" sz="2000"/>
          </a:p>
          <a:p>
            <a:pPr lvl="1">
              <a:defRPr/>
            </a:pPr>
            <a:r>
              <a:rPr lang="en-US" sz="2000" b="1"/>
              <a:t>Winner:</a:t>
            </a:r>
            <a:r>
              <a:rPr lang="en-US" sz="2000"/>
              <a:t> </a:t>
            </a:r>
            <a:r>
              <a:rPr lang="en-US" sz="2000" b="1"/>
              <a:t>Adam</a:t>
            </a:r>
            <a:r>
              <a:rPr lang="en-US" sz="2000"/>
              <a:t>.</a:t>
            </a:r>
          </a:p>
          <a:p>
            <a:pPr lvl="1">
              <a:defRPr/>
            </a:pPr>
            <a:r>
              <a:rPr lang="en-US" sz="2000" b="1"/>
              <a:t>Reason:</a:t>
            </a:r>
            <a:r>
              <a:rPr lang="en-US" sz="2000"/>
              <a:t> Adam converged significantly faster (2-3 epochs) compared to SGD (which stagnated for the first 4 epochs). For a small dataset where we want quick feedback, Adam's adaptive learning rates were superior.</a:t>
            </a:r>
          </a:p>
          <a:p>
            <a:pPr lvl="0">
              <a:defRPr/>
            </a:pPr>
            <a:r>
              <a:rPr lang="en-US" sz="2000" b="1"/>
              <a:t>Learning Rate Sensitivity:</a:t>
            </a:r>
            <a:endParaRPr lang="en-US" sz="2000"/>
          </a:p>
          <a:p>
            <a:pPr lvl="1">
              <a:defRPr/>
            </a:pPr>
            <a:r>
              <a:rPr lang="en-US" sz="2000" b="1"/>
              <a:t>Critical Moment:</a:t>
            </a:r>
            <a:r>
              <a:rPr lang="en-US" sz="2000"/>
              <a:t> In Step 7 (Unfreezing ResNet), lowering the learning rate to 1e-5 was the deciding factor. It allowed us to refine the weights to </a:t>
            </a:r>
            <a:r>
              <a:rPr lang="en-US" sz="2000" b="1"/>
              <a:t>100% accuracy</a:t>
            </a:r>
            <a:r>
              <a:rPr lang="en-US" sz="2000"/>
              <a:t> without triggering "Catastrophic Forgetting" (which would have destroyed the pre-learned features).</a:t>
            </a:r>
            <a:endParaRPr lang="en-US" altLang="en-US" sz="2000">
              <a:latin typeface="Google Sans Text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06982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9C4A1-42B3-8FA6-05A0-8F0EC15E6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20F996F-9B61-3398-0F62-369CB5291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791" y="1451884"/>
            <a:ext cx="10447266" cy="33737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rtlCol="0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3. When did transfer learning help?</a:t>
            </a:r>
          </a:p>
          <a:p>
            <a:r>
              <a:rPr lang="en-US" sz="2000" b="1" dirty="0"/>
              <a:t>The "Small Data" Problem:</a:t>
            </a:r>
            <a:endParaRPr lang="en-US" sz="2000" dirty="0"/>
          </a:p>
          <a:p>
            <a:pPr lvl="1"/>
            <a:r>
              <a:rPr lang="en-US" sz="2000" b="1" dirty="0"/>
              <a:t>Context:</a:t>
            </a:r>
            <a:r>
              <a:rPr lang="en-US" sz="2000" dirty="0"/>
              <a:t> With only ~1000 images, our custom models had to learn everything (edges, textures, shapes) from scratch. This is inefficient.</a:t>
            </a:r>
          </a:p>
          <a:p>
            <a:r>
              <a:rPr lang="en-US" sz="2000" b="1" dirty="0"/>
              <a:t>The "Knowledge" Advantage:</a:t>
            </a:r>
            <a:endParaRPr lang="en-US" sz="2000" dirty="0"/>
          </a:p>
          <a:p>
            <a:pPr lvl="1"/>
            <a:r>
              <a:rPr lang="en-US" sz="2000" b="1" dirty="0"/>
              <a:t>Impact:</a:t>
            </a:r>
            <a:r>
              <a:rPr lang="en-US" sz="2000" dirty="0"/>
              <a:t> Transfer Learning (ResNet50) brought in "knowledge" from 1.2 million ImageNet images. The model didn't have to learn </a:t>
            </a:r>
            <a:r>
              <a:rPr lang="en-US" sz="2000" i="1" dirty="0"/>
              <a:t>how</a:t>
            </a:r>
            <a:r>
              <a:rPr lang="en-US" sz="2000" dirty="0"/>
              <a:t> to see; it just had to learn </a:t>
            </a:r>
            <a:r>
              <a:rPr lang="en-US" sz="2000" i="1" dirty="0"/>
              <a:t>what</a:t>
            </a:r>
            <a:r>
              <a:rPr lang="en-US" sz="2000" dirty="0"/>
              <a:t> to look for (yellow vs. green).</a:t>
            </a:r>
          </a:p>
          <a:p>
            <a:pPr marL="0" indent="0">
              <a:buNone/>
            </a:pPr>
            <a:r>
              <a:rPr lang="en-US" sz="2000" b="1" dirty="0"/>
              <a:t>Result:</a:t>
            </a:r>
            <a:r>
              <a:rPr lang="en-US" sz="2000" dirty="0"/>
              <a:t> It reached </a:t>
            </a:r>
            <a:r>
              <a:rPr lang="en-US" sz="2000" b="1" dirty="0"/>
              <a:t>100% accuracy</a:t>
            </a:r>
            <a:r>
              <a:rPr lang="en-US" sz="2000" dirty="0"/>
              <a:t> and </a:t>
            </a:r>
            <a:r>
              <a:rPr lang="en-US" sz="2000" b="1" dirty="0"/>
              <a:t>0.05 loss</a:t>
            </a:r>
            <a:r>
              <a:rPr lang="en-US" sz="2000" dirty="0"/>
              <a:t>, a level of perfection that our custom models (stuck at ~95%) likely could never reach without massive data augmentation.</a:t>
            </a:r>
          </a:p>
        </p:txBody>
      </p:sp>
    </p:spTree>
    <p:extLst>
      <p:ext uri="{BB962C8B-B14F-4D97-AF65-F5344CB8AC3E}">
        <p14:creationId xmlns:p14="http://schemas.microsoft.com/office/powerpoint/2010/main" val="2987205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3CE9B-168C-AF3B-FBDC-EFA3C7C01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6D66CB8-662C-AAC5-AAC7-D9DA0D5AC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791" y="1451883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rtlCol="0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4. What would you do differently with more time or data?</a:t>
            </a:r>
          </a:p>
          <a:p>
            <a:r>
              <a:rPr lang="en-US" sz="2000" b="1" dirty="0"/>
              <a:t>Hyperparameter Tuning:</a:t>
            </a:r>
            <a:endParaRPr lang="en-US" sz="2000" dirty="0"/>
          </a:p>
          <a:p>
            <a:pPr lvl="1"/>
            <a:r>
              <a:rPr lang="en-US" sz="2000" b="1" dirty="0"/>
              <a:t>Plan:</a:t>
            </a:r>
            <a:r>
              <a:rPr lang="en-US" sz="2000" dirty="0"/>
              <a:t> We used standard values (Dropout=0.5, LR=1e-3). A </a:t>
            </a:r>
            <a:r>
              <a:rPr lang="en-US" sz="2000" b="1" dirty="0"/>
              <a:t>Grid Search</a:t>
            </a:r>
            <a:r>
              <a:rPr lang="en-US" sz="2000" dirty="0"/>
              <a:t> (testing Dropout=0.3 vs 0.5, LR=1e-4 vs 1e-3) could squeeze out the final 1-2% of performance from the custom models.</a:t>
            </a:r>
          </a:p>
          <a:p>
            <a:r>
              <a:rPr lang="en-US" sz="2000" b="1" dirty="0"/>
              <a:t>Early Stopping:</a:t>
            </a:r>
            <a:endParaRPr lang="en-US" sz="2000" dirty="0"/>
          </a:p>
          <a:p>
            <a:pPr lvl="1"/>
            <a:r>
              <a:rPr lang="en-US" sz="2000" b="1" dirty="0"/>
              <a:t>Plan:</a:t>
            </a:r>
            <a:r>
              <a:rPr lang="en-US" sz="2000" dirty="0"/>
              <a:t> instead of training for fixed 10 epochs, we would implement </a:t>
            </a:r>
            <a:r>
              <a:rPr lang="en-US" sz="2000" b="1" dirty="0"/>
              <a:t>Automatic Early Stopping</a:t>
            </a:r>
            <a:r>
              <a:rPr lang="en-US" sz="2000" dirty="0"/>
              <a:t> to save the model exactly when validation loss peaks (e.g., Epoch 6 for </a:t>
            </a:r>
            <a:r>
              <a:rPr lang="en-US" sz="2000" dirty="0" err="1"/>
              <a:t>DeepCNN</a:t>
            </a:r>
            <a:r>
              <a:rPr lang="en-US" sz="2000" dirty="0"/>
              <a:t>), preventing the overfitting we saw in later epochs.</a:t>
            </a:r>
          </a:p>
        </p:txBody>
      </p:sp>
    </p:spTree>
    <p:extLst>
      <p:ext uri="{BB962C8B-B14F-4D97-AF65-F5344CB8AC3E}">
        <p14:creationId xmlns:p14="http://schemas.microsoft.com/office/powerpoint/2010/main" val="3078906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8744</TotalTime>
  <Words>1710</Words>
  <Application>Microsoft Office PowerPoint</Application>
  <PresentationFormat>Widescreen</PresentationFormat>
  <Paragraphs>112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Google Sans Text</vt:lpstr>
      <vt:lpstr>Office Theme</vt:lpstr>
      <vt:lpstr> Final Project - Introduction to Deep Learning</vt:lpstr>
      <vt:lpstr>Problem &amp; Dataset</vt:lpstr>
      <vt:lpstr>Part 1 — Training a CNN from Scratch</vt:lpstr>
      <vt:lpstr>Experiment 1 - SmallCNN + Adam</vt:lpstr>
      <vt:lpstr>Experiment 2 - DeepCNN + Adam</vt:lpstr>
      <vt:lpstr>Experiment 3 - DeepCNN + SGD (momentum)</vt:lpstr>
      <vt:lpstr>Experiment 4 - Hyperparameter Tuning (Learning Rate)</vt:lpstr>
      <vt:lpstr>Experiment 5 - Hyperparameter Tuning (Batch Size) </vt:lpstr>
      <vt:lpstr>Experiment - DeepCNN + Adam + Batch Normalization</vt:lpstr>
      <vt:lpstr>Experiment R1: Dropout</vt:lpstr>
      <vt:lpstr>Experiment R2: Weight Decay (L2 Regularization)</vt:lpstr>
      <vt:lpstr>Experiment R3: Data augmentation</vt:lpstr>
      <vt:lpstr>Step 5 — Pretrain on CIFAR-10 and Fine-Tuning on your dataset </vt:lpstr>
      <vt:lpstr>Step 6 — Adapting a Pretrained Model </vt:lpstr>
      <vt:lpstr>Step 7 — Training and Fine-Tuning</vt:lpstr>
      <vt:lpstr>Final Reflection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KHALEPARI Shiraz</dc:creator>
  <cp:lastModifiedBy>KHALEPARI Shiraz</cp:lastModifiedBy>
  <cp:revision>14</cp:revision>
  <dcterms:created xsi:type="dcterms:W3CDTF">2026-02-09T11:25:56Z</dcterms:created>
  <dcterms:modified xsi:type="dcterms:W3CDTF">2026-02-19T17:30:27Z</dcterms:modified>
</cp:coreProperties>
</file>